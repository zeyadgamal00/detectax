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61" r:id="rId2"/>
    <p:sldId id="281" r:id="rId3"/>
    <p:sldId id="268" r:id="rId4"/>
    <p:sldId id="270" r:id="rId5"/>
    <p:sldId id="269" r:id="rId6"/>
    <p:sldId id="271" r:id="rId7"/>
    <p:sldId id="272" r:id="rId8"/>
    <p:sldId id="273" r:id="rId9"/>
    <p:sldId id="274" r:id="rId10"/>
    <p:sldId id="275" r:id="rId11"/>
    <p:sldId id="276" r:id="rId12"/>
    <p:sldId id="279" r:id="rId13"/>
    <p:sldId id="277" r:id="rId14"/>
    <p:sldId id="278" r:id="rId15"/>
    <p:sldId id="28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C90AA78C-E0FC-644E-EF3B-9BD45FD3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640D5952-785E-547D-C03D-13B9EBFFB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76DBD143-9E0D-7D2D-9071-EFA46BD04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0426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F439BAA0-A529-566D-4EB0-496F1D97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0E17C461-37D9-75A0-3B2A-471F905D5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25E89218-08F5-C2AE-3E6D-7D315C8BD7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3244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A89A9B41-CB81-6EA7-DB09-64A66372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>
            <a:extLst>
              <a:ext uri="{FF2B5EF4-FFF2-40B4-BE49-F238E27FC236}">
                <a16:creationId xmlns:a16="http://schemas.microsoft.com/office/drawing/2014/main" id="{41A22A84-288E-0C66-ECDB-1C9E753FAF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0DEE5B65-8BAA-C53B-9C61-35C0F6E69F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8719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AE9391C7-D8F0-A562-C31D-CFAB1AA3D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21CEAD3A-7E0D-A01E-75DC-AF5C572146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F34783D0-AA97-5A38-1745-761CC90EEF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4032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6DA82680-8702-E83D-F229-FBC14A914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C9C59D8D-72BC-12DA-ECD9-1BADC5F1D2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ECFFEEA7-932F-E387-9928-211458D05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7825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CCB922A4-8707-ABF4-6583-6FBEEF2C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74A0BB15-CD29-3734-0C13-203BCE989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410EE09E-F50F-8D5B-86F6-E98C9F34C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8211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8791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6AFD9A5B-7719-9AAC-3FE1-BFE85AA9D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3450C5C4-3EC8-7B03-4200-27CFE0AE5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651ED5D1-DB05-D08A-C5A6-C83D2D6FF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9291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28E3EEEE-5A37-30B8-1848-847E5AD6D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BA7881A0-4156-1560-C20E-0A2952A1E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231CC71F-6E83-17CE-1464-55A86055C2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132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7128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6F98489C-E347-26CC-820A-EAEAA45F4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5AB6AFEF-D6A7-F178-2CF9-8070681AA0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0E82D0C7-3BCF-6162-F6AE-6D90116C3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4633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0B16F685-D790-75B9-29D3-7D512368C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8C395710-3957-CD11-ADD3-98539A084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590DFF75-F70C-11D8-121B-09F16C3C96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2487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39DBE40F-02D2-153E-2DB2-FE8D2E6B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0766C05A-B3ED-37C0-DEAE-8B700101F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6A21C8B5-6547-6315-0D16-787671DB5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065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 err="1"/>
              <a:t>DetactaX</a:t>
            </a:r>
            <a:r>
              <a:rPr lang="en-US" dirty="0"/>
              <a:t> AI</a:t>
            </a:r>
            <a:endParaRPr dirty="0"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DEPI Round 3 Graduation Project</a:t>
            </a:r>
            <a:endParaRPr dirty="0"/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5C6A64CA-2458-4BBF-B194-6A98E858D607}" type="datetime1">
              <a:rPr lang="en-US" smtClean="0"/>
              <a:t>11/27/2025</a:t>
            </a:fld>
            <a:endParaRPr dirty="0"/>
          </a:p>
        </p:txBody>
      </p:sp>
      <p:sp>
        <p:nvSpPr>
          <p:cNvPr id="163" name="Google Shape;163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  <a:endParaRPr dirty="0"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2150166-55C0-F834-5D5E-7CD41C8E1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CE6C-DDEF-5C8A-D6CC-2DD87CB6F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840"/>
            <a:ext cx="10515600" cy="684848"/>
          </a:xfrm>
        </p:spPr>
        <p:txBody>
          <a:bodyPr wrap="square" anchor="ctr">
            <a:normAutofit fontScale="90000"/>
          </a:bodyPr>
          <a:lstStyle/>
          <a:p>
            <a:r>
              <a:rPr lang="en-US" dirty="0"/>
              <a:t>Project team: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E7D9E-648A-42CD-0DF3-2CEAE0F58F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wrap="square"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D6E84-8CEF-2DF9-9E6B-D3C90D33454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1881188"/>
            <a:ext cx="7094220" cy="4352544"/>
          </a:xfrm>
        </p:spPr>
        <p:txBody>
          <a:bodyPr anchor="t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2400" b="0" i="0" u="none" strike="noStrike" cap="none"/>
              <a:t>Zyad Gamal (team leader): Azure Integration &amp; API Deployment.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2400" b="0" i="0" u="none" strike="noStrike" cap="none"/>
              <a:t>Basel Mohamed Mostafa: Classification Model structure &amp; Training, Mlflow, and Project Documentation.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2400" b="0" i="0" u="none" strike="noStrike" cap="none"/>
              <a:t>Omar Yasser: Project Models Interface GUI using Streamlit.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2400" b="0" i="0" u="none" strike="noStrike" cap="none"/>
              <a:t>Mohamed Elfouly: Object Recognition Model.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2400" b="0" i="0" u="none" strike="noStrike" cap="none"/>
              <a:t>Zyad Ahmed: Dataset Acquistion &amp; Augmentations.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2400" b="0" i="0" u="none" strike="noStrike" cap="none"/>
              <a:t>Abdulrahman: Classification Model Transfer Learning.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endParaRPr lang="en-US" sz="2400" b="0" i="0" u="none" strike="noStrike" cap="none"/>
          </a:p>
        </p:txBody>
      </p:sp>
      <p:pic>
        <p:nvPicPr>
          <p:cNvPr id="5" name="Picture 4" descr="A logo of a bird with a magnifying glass&#10;&#10;AI-generated content may be incorrect.">
            <a:extLst>
              <a:ext uri="{FF2B5EF4-FFF2-40B4-BE49-F238E27FC236}">
                <a16:creationId xmlns:a16="http://schemas.microsoft.com/office/drawing/2014/main" id="{5C4DE48E-784A-3CBA-CD49-6547579CE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5" r="14520" b="-3"/>
          <a:stretch>
            <a:fillRect/>
          </a:stretch>
        </p:blipFill>
        <p:spPr>
          <a:xfrm>
            <a:off x="8313420" y="1881188"/>
            <a:ext cx="3040379" cy="4352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400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50588D32-2AA0-32CC-92BA-5E6003DD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>
            <a:extLst>
              <a:ext uri="{FF2B5EF4-FFF2-40B4-BE49-F238E27FC236}">
                <a16:creationId xmlns:a16="http://schemas.microsoft.com/office/drawing/2014/main" id="{96EDEB8B-2B2A-12B1-A3F8-D13DBD3F1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103120"/>
            <a:ext cx="10515600" cy="4073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Existing tools are complex or slow and require technical expertise.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Users need: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Easy-to-use interface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Quick predictions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High accuracy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4. No technical setup required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b="1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-</a:t>
            </a:r>
            <a:r>
              <a:rPr lang="en-US" dirty="0"/>
              <a:t> </a:t>
            </a:r>
            <a:r>
              <a:rPr lang="en-US" b="1" dirty="0"/>
              <a:t>Project Idea: </a:t>
            </a:r>
            <a:r>
              <a:rPr lang="en-US" dirty="0"/>
              <a:t>Making a website with both Image Classification &amp; Object Recognition capabilities for multi-use cases.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b="1" dirty="0"/>
              <a:t>- Goal: </a:t>
            </a:r>
            <a:r>
              <a:rPr lang="en-US" dirty="0"/>
              <a:t>Quickly and accurately classify the main object in an image &amp; recognize multiple objects using top of the line models.</a:t>
            </a:r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3B373D44-7772-1B0B-95D0-87997B059B7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5C6A64CA-2458-4BBF-B194-6A98E858D607}" type="datetime1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98AF663C-13F8-F5C8-A097-AAFB511CB8D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C469B9CF-F83F-3025-26B7-6C2B6C9774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A857058-FD6F-5727-2B74-5CAAF5D25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23C0FF-9C78-EC7F-5C2A-ECFEC9BFE75E}"/>
              </a:ext>
            </a:extLst>
          </p:cNvPr>
          <p:cNvSpPr txBox="1"/>
          <p:nvPr/>
        </p:nvSpPr>
        <p:spPr>
          <a:xfrm>
            <a:off x="838200" y="1353312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Introduction:</a:t>
            </a:r>
          </a:p>
        </p:txBody>
      </p:sp>
    </p:spTree>
    <p:extLst>
      <p:ext uri="{BB962C8B-B14F-4D97-AF65-F5344CB8AC3E}">
        <p14:creationId xmlns:p14="http://schemas.microsoft.com/office/powerpoint/2010/main" val="7309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50A35DEF-AF9E-BA03-C099-7FE2E155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19DBE964-1713-A47A-E979-63DCF19409E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5C6A64CA-2458-4BBF-B194-6A98E858D607}" type="datetime1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224" name="Google Shape;224;p12">
            <a:extLst>
              <a:ext uri="{FF2B5EF4-FFF2-40B4-BE49-F238E27FC236}">
                <a16:creationId xmlns:a16="http://schemas.microsoft.com/office/drawing/2014/main" id="{BA44DBEF-79E6-EED5-5D55-0A7276FD78B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D86AF962-B65A-22B8-4D3E-71F7FAA371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497195EC-7608-3C49-768A-C7440C8D2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3CA8F2-93AE-9757-8610-92B4736E20A1}"/>
              </a:ext>
            </a:extLst>
          </p:cNvPr>
          <p:cNvSpPr txBox="1"/>
          <p:nvPr/>
        </p:nvSpPr>
        <p:spPr>
          <a:xfrm>
            <a:off x="838200" y="307505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Classification Model Structure</a:t>
            </a:r>
          </a:p>
        </p:txBody>
      </p:sp>
    </p:spTree>
    <p:extLst>
      <p:ext uri="{BB962C8B-B14F-4D97-AF65-F5344CB8AC3E}">
        <p14:creationId xmlns:p14="http://schemas.microsoft.com/office/powerpoint/2010/main" val="169299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13409FC8-0329-AF09-D5C8-59842D79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>
            <a:extLst>
              <a:ext uri="{FF2B5EF4-FFF2-40B4-BE49-F238E27FC236}">
                <a16:creationId xmlns:a16="http://schemas.microsoft.com/office/drawing/2014/main" id="{77D2B7A5-FBDE-6E26-D759-B7FA3422F4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3200" b="1" dirty="0"/>
              <a:t>Why MobileNetV2?</a:t>
            </a:r>
            <a:br>
              <a:rPr lang="en-US" sz="3200" b="1" dirty="0"/>
            </a:br>
            <a:br>
              <a:rPr lang="en-US" sz="2400" dirty="0"/>
            </a:br>
            <a:r>
              <a:rPr lang="en-US" sz="2000" b="1" dirty="0"/>
              <a:t>Key Architectural Advantages:</a:t>
            </a:r>
            <a:br>
              <a:rPr lang="en-US" sz="2400" b="1" dirty="0"/>
            </a:br>
            <a:r>
              <a:rPr lang="en-US" sz="2000" b="1" dirty="0"/>
              <a:t>1. Inverted Residuals: </a:t>
            </a:r>
            <a:r>
              <a:rPr lang="en-US" sz="2000" dirty="0"/>
              <a:t>connects the input and output bottleneck layers (thin layers) via a skip connection. Unlike traditional </a:t>
            </a:r>
            <a:r>
              <a:rPr lang="en-US" sz="2000" dirty="0" err="1"/>
              <a:t>ResNet</a:t>
            </a:r>
            <a:r>
              <a:rPr lang="en-US" sz="2000" dirty="0"/>
              <a:t> blocks.</a:t>
            </a:r>
            <a:br>
              <a:rPr lang="en-US" sz="2000" dirty="0"/>
            </a:br>
            <a:r>
              <a:rPr lang="en-US" sz="2000" b="1" dirty="0"/>
              <a:t>2. Linear Bottlenecks: </a:t>
            </a:r>
            <a:r>
              <a:rPr lang="en-US" sz="2000" dirty="0"/>
              <a:t>Linear Activation instead of using </a:t>
            </a:r>
            <a:r>
              <a:rPr lang="en-US" sz="2000" dirty="0" err="1"/>
              <a:t>ReLU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b="1" dirty="0"/>
              <a:t>3. Efficiency: </a:t>
            </a:r>
            <a:r>
              <a:rPr lang="en-US" sz="2000" dirty="0"/>
              <a:t>Using </a:t>
            </a:r>
            <a:r>
              <a:rPr lang="en-US" sz="2000" dirty="0" err="1"/>
              <a:t>MobileNet’s</a:t>
            </a:r>
            <a:r>
              <a:rPr lang="en-US" sz="2000" dirty="0"/>
              <a:t> signature </a:t>
            </a:r>
            <a:r>
              <a:rPr lang="en-US" sz="2000" dirty="0" err="1"/>
              <a:t>Depthwise</a:t>
            </a:r>
            <a:r>
              <a:rPr lang="en-US" sz="2000" dirty="0"/>
              <a:t> </a:t>
            </a:r>
            <a:r>
              <a:rPr lang="en-US" sz="2000" dirty="0" err="1"/>
              <a:t>Seperable</a:t>
            </a:r>
            <a:r>
              <a:rPr lang="en-US" sz="2000" dirty="0"/>
              <a:t> Convolution which offers reduction in parameter counts. </a:t>
            </a:r>
            <a:br>
              <a:rPr lang="en-US" sz="2000" dirty="0"/>
            </a:br>
            <a:endParaRPr sz="2400" dirty="0"/>
          </a:p>
        </p:txBody>
      </p:sp>
      <p:sp>
        <p:nvSpPr>
          <p:cNvPr id="171" name="Google Shape;171;p7">
            <a:extLst>
              <a:ext uri="{FF2B5EF4-FFF2-40B4-BE49-F238E27FC236}">
                <a16:creationId xmlns:a16="http://schemas.microsoft.com/office/drawing/2014/main" id="{72F65924-69F7-66E5-B146-F92D53B1547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72" name="Google Shape;172;p7">
            <a:extLst>
              <a:ext uri="{FF2B5EF4-FFF2-40B4-BE49-F238E27FC236}">
                <a16:creationId xmlns:a16="http://schemas.microsoft.com/office/drawing/2014/main" id="{9724ACCA-CBC3-3A52-DEC0-7131F229564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7">
            <a:extLst>
              <a:ext uri="{FF2B5EF4-FFF2-40B4-BE49-F238E27FC236}">
                <a16:creationId xmlns:a16="http://schemas.microsoft.com/office/drawing/2014/main" id="{8BE5AB8D-F9DB-C825-B4D2-29C8867DB9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4" name="Google Shape;174;p7">
            <a:extLst>
              <a:ext uri="{FF2B5EF4-FFF2-40B4-BE49-F238E27FC236}">
                <a16:creationId xmlns:a16="http://schemas.microsoft.com/office/drawing/2014/main" id="{C8C42BCE-6C21-8DD2-CE37-04C3AB70B9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763" y="1677910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49F8154-68AD-CEF9-9692-52D249D17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pic>
        <p:nvPicPr>
          <p:cNvPr id="1026" name="Picture 2" descr="What is MobileNetV2? Features, Architecture, Application and More">
            <a:extLst>
              <a:ext uri="{FF2B5EF4-FFF2-40B4-BE49-F238E27FC236}">
                <a16:creationId xmlns:a16="http://schemas.microsoft.com/office/drawing/2014/main" id="{6EDBB77E-DF94-2A39-A371-AE56D4D11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96" y="1677910"/>
            <a:ext cx="3856704" cy="314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D968CC-A873-D1FB-3984-B3E5E47B0299}"/>
              </a:ext>
            </a:extLst>
          </p:cNvPr>
          <p:cNvSpPr/>
          <p:nvPr/>
        </p:nvSpPr>
        <p:spPr>
          <a:xfrm>
            <a:off x="838200" y="6347222"/>
            <a:ext cx="2743200" cy="3833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5C6A64CA-2458-4BBF-B194-6A98E858D607}" type="datetime1">
              <a:rPr lang="en-US" smtClean="0"/>
              <a:pPr algn="ctr"/>
              <a:t>11/27/2025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324E71AD-DD85-6294-CCB7-C429A840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A90F6B67-D72F-04C5-4100-BED6FBD49E1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5C6A64CA-2458-4BBF-B194-6A98E858D607}" type="datetime1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848F96D4-E23B-57AC-AD8E-C4B918CEF42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23B6EAD4-3E87-9F55-E3F4-E386213958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28DC65ED-E1B2-285F-2CC7-A55C17F85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FE9AD-2CBB-6104-D25E-DA9AB24BF408}"/>
              </a:ext>
            </a:extLst>
          </p:cNvPr>
          <p:cNvSpPr txBox="1"/>
          <p:nvPr/>
        </p:nvSpPr>
        <p:spPr>
          <a:xfrm>
            <a:off x="838200" y="1353312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Performance Comparison: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A3E96-B743-FF65-4630-24D35469E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531" y="2300849"/>
            <a:ext cx="10262937" cy="369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62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2B70DDFC-769E-12E1-9247-1548A091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>
            <a:extLst>
              <a:ext uri="{FF2B5EF4-FFF2-40B4-BE49-F238E27FC236}">
                <a16:creationId xmlns:a16="http://schemas.microsoft.com/office/drawing/2014/main" id="{477020AB-DA0C-DCF1-84F4-62FA2C470A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35000" indent="-457200">
              <a:spcBef>
                <a:spcPts val="0"/>
              </a:spcBef>
              <a:buSzPts val="2800"/>
            </a:pPr>
            <a:r>
              <a:rPr lang="en-US" dirty="0"/>
              <a:t>Model Based on MobileNetV2.</a:t>
            </a:r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dirty="0"/>
              <a:t>Retrained using Transfer Learning (Unfroze the last 50 layers).</a:t>
            </a:r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dirty="0"/>
              <a:t>Dataset Used: CIFAR10.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Augmentations Applied on the Dataset: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/>
              <a:t>Resizing to 224x224.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/>
              <a:t>Random Flip Horizontal and Vertical. 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/>
              <a:t>Random Brightness.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/>
              <a:t>Random Contrast.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/>
              <a:t>Random Rotation.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/>
              <a:t>Random Zoom.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/>
              <a:t>Rescaling (1/255).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6CA27835-5713-70C9-C891-A713916306D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288D89EF-6ECF-B131-BBFA-9F248403530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C9D0BB49-8860-8849-99A7-1D59637714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C30FFAB-2795-FDDC-59A8-A91DDAC6A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48032C-8869-E1B9-839D-EBA4FDD26A75}"/>
              </a:ext>
            </a:extLst>
          </p:cNvPr>
          <p:cNvSpPr txBox="1"/>
          <p:nvPr/>
        </p:nvSpPr>
        <p:spPr>
          <a:xfrm>
            <a:off x="838200" y="1070591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Model Specifications:</a:t>
            </a:r>
          </a:p>
        </p:txBody>
      </p:sp>
    </p:spTree>
    <p:extLst>
      <p:ext uri="{BB962C8B-B14F-4D97-AF65-F5344CB8AC3E}">
        <p14:creationId xmlns:p14="http://schemas.microsoft.com/office/powerpoint/2010/main" val="3330167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B0AD9188-51A8-3F72-BD1B-B2B667C9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>
            <a:extLst>
              <a:ext uri="{FF2B5EF4-FFF2-40B4-BE49-F238E27FC236}">
                <a16:creationId xmlns:a16="http://schemas.microsoft.com/office/drawing/2014/main" id="{0EE6D2FA-146C-F2ED-9B24-8D1D0E528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indent="0">
              <a:spcBef>
                <a:spcPts val="0"/>
              </a:spcBef>
              <a:buSzPts val="2800"/>
              <a:buNone/>
            </a:pPr>
            <a:r>
              <a:rPr lang="en-US" b="1" dirty="0"/>
              <a:t>Training Cycle:</a:t>
            </a:r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dirty="0"/>
              <a:t>20 Epochs training cycle with Validation stages in-between.</a:t>
            </a:r>
          </a:p>
          <a:p>
            <a:pPr marL="635000" indent="-457200">
              <a:spcBef>
                <a:spcPts val="0"/>
              </a:spcBef>
              <a:buSzPts val="2800"/>
            </a:pPr>
            <a:endParaRPr lang="en-US" dirty="0"/>
          </a:p>
          <a:p>
            <a:pPr marL="177800" indent="0">
              <a:spcBef>
                <a:spcPts val="0"/>
              </a:spcBef>
              <a:buSzPts val="2800"/>
              <a:buNone/>
            </a:pPr>
            <a:r>
              <a:rPr lang="en-US" b="1" dirty="0"/>
              <a:t>Final Model Results:</a:t>
            </a:r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dirty="0"/>
              <a:t>Accuracy: 0.8451, Loss: 0.4446, Val Accuracy: 0.8404.</a:t>
            </a:r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A51B2556-9333-F95A-958E-ACD62A6C099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5C6A64CA-2458-4BBF-B194-6A98E858D607}" type="datetime1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5731F8D5-9031-AF8D-6D6F-B775183E5DF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C9B2C5AA-459B-D488-C703-F057C48657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446EBCF-F974-AD73-54FC-7081A93EF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D8125E-41E0-EDF2-334F-D4712C701041}"/>
              </a:ext>
            </a:extLst>
          </p:cNvPr>
          <p:cNvSpPr txBox="1"/>
          <p:nvPr/>
        </p:nvSpPr>
        <p:spPr>
          <a:xfrm>
            <a:off x="838200" y="1070591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Model Specifications:</a:t>
            </a:r>
          </a:p>
        </p:txBody>
      </p:sp>
    </p:spTree>
    <p:extLst>
      <p:ext uri="{BB962C8B-B14F-4D97-AF65-F5344CB8AC3E}">
        <p14:creationId xmlns:p14="http://schemas.microsoft.com/office/powerpoint/2010/main" val="3960582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DC2B8-71E9-7FE9-E09F-3E68AE8D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3527E0-C60C-3CE5-D1EC-063FC516A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6186"/>
          <a:stretch>
            <a:fillRect/>
          </a:stretch>
        </p:blipFill>
        <p:spPr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799B4E-8632-2AF9-63A6-61564C614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Model Training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5A0A61-E2D3-1B3D-727D-B947AD030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28" b="1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09E688-1B8C-DEC1-3E6C-8C48775A1459}"/>
              </a:ext>
            </a:extLst>
          </p:cNvPr>
          <p:cNvSpPr txBox="1"/>
          <p:nvPr/>
        </p:nvSpPr>
        <p:spPr>
          <a:xfrm>
            <a:off x="832104" y="6345936"/>
            <a:ext cx="2761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5C6A64CA-2458-4BBF-B194-6A98E858D607}" type="datetime1">
              <a:rPr lang="en-US" sz="1600">
                <a:solidFill>
                  <a:schemeClr val="bg1"/>
                </a:solidFill>
              </a:rPr>
              <a:pPr algn="ctr"/>
              <a:t>11/27/2025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607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787A6A46-5DC0-8767-8438-C8D3644CC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3B32F424-EB5E-C94C-E85B-691A924AB88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5C6A64CA-2458-4BBF-B194-6A98E858D607}" type="datetime1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224" name="Google Shape;224;p12">
            <a:extLst>
              <a:ext uri="{FF2B5EF4-FFF2-40B4-BE49-F238E27FC236}">
                <a16:creationId xmlns:a16="http://schemas.microsoft.com/office/drawing/2014/main" id="{C27F4A1F-EBEB-14C0-9024-C65867B7CB7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47C4ABE2-07EE-F06C-C9C5-A43BBDDE30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A33A959-88CF-E665-6C1F-0BCE25E10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B59374-E0D6-423C-A813-08E86A08C421}"/>
              </a:ext>
            </a:extLst>
          </p:cNvPr>
          <p:cNvSpPr txBox="1"/>
          <p:nvPr/>
        </p:nvSpPr>
        <p:spPr>
          <a:xfrm>
            <a:off x="838200" y="3275111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/>
              <a:t>Mlflow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430579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F80A658B-81FF-9D87-E7A9-22FF7D9DC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>
            <a:extLst>
              <a:ext uri="{FF2B5EF4-FFF2-40B4-BE49-F238E27FC236}">
                <a16:creationId xmlns:a16="http://schemas.microsoft.com/office/drawing/2014/main" id="{5702166C-C682-69BF-1E26-1A45991CC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148840"/>
            <a:ext cx="10515600" cy="402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b="1" dirty="0" err="1"/>
              <a:t>MLflow</a:t>
            </a:r>
            <a:r>
              <a:rPr lang="en-US" dirty="0"/>
              <a:t>: Central experiment tracker.</a:t>
            </a:r>
          </a:p>
          <a:p>
            <a:r>
              <a:rPr lang="en-US" b="1" dirty="0"/>
              <a:t>Local SQLite</a:t>
            </a:r>
            <a:r>
              <a:rPr lang="en-US" dirty="0"/>
              <a:t>: Development tracking database.</a:t>
            </a:r>
          </a:p>
          <a:p>
            <a:r>
              <a:rPr lang="en-US" b="1" dirty="0"/>
              <a:t>Custom Monitors</a:t>
            </a:r>
            <a:r>
              <a:rPr lang="en-US" dirty="0"/>
              <a:t>: Production performance tracking and metrics documenting.</a:t>
            </a:r>
          </a:p>
          <a:p>
            <a:r>
              <a:rPr lang="en-US" b="1" dirty="0"/>
              <a:t>Azure Integration</a:t>
            </a:r>
            <a:r>
              <a:rPr lang="en-US" dirty="0"/>
              <a:t>: Cloud deployment bridge for easy model redeployment to Azure.</a:t>
            </a:r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99C5B334-2967-3667-FD11-31532C2FCD6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5C6A64CA-2458-4BBF-B194-6A98E858D607}" type="datetime1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9B248D2B-7C40-E0FE-14A9-AB9C41358CE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A63FB44F-FE42-D4D7-C37E-B1C33C1260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711ACFB-DF5F-4D1E-99EF-C431AA2EF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25448C-A300-55A9-FFEC-77AE42EC3489}"/>
              </a:ext>
            </a:extLst>
          </p:cNvPr>
          <p:cNvSpPr txBox="1"/>
          <p:nvPr/>
        </p:nvSpPr>
        <p:spPr>
          <a:xfrm>
            <a:off x="838200" y="1353312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Key </a:t>
            </a:r>
            <a:r>
              <a:rPr lang="en-US" sz="3200" b="1" dirty="0" err="1"/>
              <a:t>Mlflow</a:t>
            </a:r>
            <a:r>
              <a:rPr lang="en-US" sz="3200" b="1" dirty="0"/>
              <a:t> Components:</a:t>
            </a:r>
          </a:p>
        </p:txBody>
      </p:sp>
    </p:spTree>
    <p:extLst>
      <p:ext uri="{BB962C8B-B14F-4D97-AF65-F5344CB8AC3E}">
        <p14:creationId xmlns:p14="http://schemas.microsoft.com/office/powerpoint/2010/main" val="2040538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2AAC1-D007-4EAA-2AE6-B08D6F63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b="1" dirty="0"/>
              <a:t>Results &amp; Metrics:</a:t>
            </a:r>
            <a:br>
              <a:rPr lang="en-US" sz="5400" b="1" dirty="0"/>
            </a:br>
            <a:br>
              <a:rPr lang="en-US" sz="5400" b="1" dirty="0"/>
            </a:br>
            <a:br>
              <a:rPr lang="en-US" sz="5400" b="1" dirty="0"/>
            </a:br>
            <a:endParaRPr lang="en-US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ABD48-37FD-8537-BB94-CBC873E97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7" y="713232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Classification Model Performance</a:t>
            </a:r>
          </a:p>
          <a:p>
            <a:pPr marL="0" indent="0">
              <a:buNone/>
            </a:pPr>
            <a:r>
              <a:rPr lang="en-US" sz="2000" b="1" dirty="0"/>
              <a:t>1. Final Test Accuracy</a:t>
            </a:r>
            <a:r>
              <a:rPr lang="en-US" sz="2000" dirty="0"/>
              <a:t>: 82%</a:t>
            </a:r>
          </a:p>
          <a:p>
            <a:pPr marL="0" indent="0">
              <a:buNone/>
            </a:pPr>
            <a:r>
              <a:rPr lang="en-US" sz="2000" b="1" dirty="0"/>
              <a:t>2. Training Time</a:t>
            </a:r>
            <a:r>
              <a:rPr lang="en-US" sz="2000" dirty="0"/>
              <a:t>: ~60 minutes (with </a:t>
            </a:r>
            <a:r>
              <a:rPr lang="en-US" sz="2000" dirty="0" err="1"/>
              <a:t>MLflow</a:t>
            </a:r>
            <a:r>
              <a:rPr lang="en-US" sz="2000" dirty="0"/>
              <a:t> tracking)</a:t>
            </a:r>
          </a:p>
          <a:p>
            <a:pPr marL="0" indent="0">
              <a:buNone/>
            </a:pPr>
            <a:r>
              <a:rPr lang="en-US" sz="2000" b="1" dirty="0"/>
              <a:t>3. Model Versions</a:t>
            </a:r>
            <a:r>
              <a:rPr lang="en-US" sz="2000" dirty="0"/>
              <a:t>: 3+ registered versions</a:t>
            </a:r>
          </a:p>
          <a:p>
            <a:pPr marL="0" indent="0">
              <a:buNone/>
            </a:pPr>
            <a:r>
              <a:rPr lang="en-US" sz="2000" b="1" dirty="0"/>
              <a:t>4. Experiments Tracked</a:t>
            </a:r>
            <a:r>
              <a:rPr lang="en-US" sz="2000" dirty="0"/>
              <a:t>: 10+ complete runs</a:t>
            </a:r>
            <a:endParaRPr lang="ar-EG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Monitoring System</a:t>
            </a:r>
          </a:p>
          <a:p>
            <a:pPr marL="0" indent="0">
              <a:buNone/>
            </a:pPr>
            <a:r>
              <a:rPr lang="en-US" sz="2000" b="1" dirty="0"/>
              <a:t>1. Prediction Tracking</a:t>
            </a:r>
            <a:r>
              <a:rPr lang="en-US" sz="2000" dirty="0"/>
              <a:t>: Real-time with &lt;100ms overhead</a:t>
            </a:r>
          </a:p>
          <a:p>
            <a:pPr marL="0" indent="0">
              <a:buNone/>
            </a:pPr>
            <a:r>
              <a:rPr lang="en-US" sz="2000" b="1" dirty="0"/>
              <a:t>2. Data Collected</a:t>
            </a:r>
            <a:r>
              <a:rPr lang="en-US" sz="2000" dirty="0"/>
              <a:t>: Parameters, metrics, artifacts, predictions</a:t>
            </a:r>
            <a:endParaRPr lang="ar-EG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13FF1-2D01-9D0D-7CAD-33FE3E59264C}"/>
              </a:ext>
            </a:extLst>
          </p:cNvPr>
          <p:cNvSpPr txBox="1"/>
          <p:nvPr/>
        </p:nvSpPr>
        <p:spPr>
          <a:xfrm>
            <a:off x="841248" y="6382512"/>
            <a:ext cx="273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5C6A64CA-2458-4BBF-B194-6A98E858D607}" type="datetime1">
              <a:rPr lang="en-US" sz="1600">
                <a:solidFill>
                  <a:schemeClr val="bg1"/>
                </a:solidFill>
              </a:rPr>
              <a:pPr/>
              <a:t>11/27/2025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C404B0-7653-281A-862F-0BD0FC613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81" y="2998435"/>
            <a:ext cx="2457793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41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E96695BD-AEC5-6B70-A00A-340E3549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3C6752FF-2095-B1CC-BBC1-93D00700635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5C6A64CA-2458-4BBF-B194-6A98E858D607}" type="datetime1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224" name="Google Shape;224;p12">
            <a:extLst>
              <a:ext uri="{FF2B5EF4-FFF2-40B4-BE49-F238E27FC236}">
                <a16:creationId xmlns:a16="http://schemas.microsoft.com/office/drawing/2014/main" id="{8AF695DF-B14A-366D-3283-FC8CDD762F8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6EB448D3-34ED-CEDB-365D-36EB9074B6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5D638D99-EA9B-7E58-08AA-1DFE6C427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pic>
        <p:nvPicPr>
          <p:cNvPr id="3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724918-33AD-6423-B719-90A2E1D21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80" y="1507075"/>
            <a:ext cx="11305440" cy="384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43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0407B530-5509-3D3E-4EEF-53948913A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781AAAE6-C786-772D-354D-0E37CEC6888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5C6A64CA-2458-4BBF-B194-6A98E858D607}" type="datetime1">
              <a:rPr lang="en-US"/>
              <a:pPr lvl="0"/>
              <a:t>11/27/2025</a:t>
            </a:fld>
            <a:endParaRPr dirty="0"/>
          </a:p>
        </p:txBody>
      </p:sp>
      <p:sp>
        <p:nvSpPr>
          <p:cNvPr id="224" name="Google Shape;224;p12">
            <a:extLst>
              <a:ext uri="{FF2B5EF4-FFF2-40B4-BE49-F238E27FC236}">
                <a16:creationId xmlns:a16="http://schemas.microsoft.com/office/drawing/2014/main" id="{826B03E1-F7D4-3608-E2ED-EBDA1818B2B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1E6CBE39-8745-A365-128E-C9DCC2DFE3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53C0DA6B-87D9-B8FA-95AA-BE1E171AA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pic>
        <p:nvPicPr>
          <p:cNvPr id="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FA9E38-1320-9D7C-EFE7-7BD327DFD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799" y="1146199"/>
            <a:ext cx="8494140" cy="456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88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D8A008CB-B7FC-3189-9C4F-12B1C7155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713C57EF-EB71-96B8-A2D6-BA088FAC8B9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fld id="{5C6A64CA-2458-4BBF-B194-6A98E858D607}" type="datetime1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224" name="Google Shape;224;p12">
            <a:extLst>
              <a:ext uri="{FF2B5EF4-FFF2-40B4-BE49-F238E27FC236}">
                <a16:creationId xmlns:a16="http://schemas.microsoft.com/office/drawing/2014/main" id="{36A9E278-E024-A141-4310-D0923C77830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 err="1"/>
              <a:t>DetactaX</a:t>
            </a:r>
            <a:r>
              <a:rPr lang="en-US" dirty="0"/>
              <a:t> – Image Classification &amp; Object Recognition Reimagined.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FCA00979-3B99-B091-B801-F99667FDAE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CD16448-3B4C-CC2C-994E-D7BF62BB2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6FB05D-31C4-0C25-2698-7EDD624FBA06}"/>
              </a:ext>
            </a:extLst>
          </p:cNvPr>
          <p:cNvSpPr txBox="1"/>
          <p:nvPr/>
        </p:nvSpPr>
        <p:spPr>
          <a:xfrm>
            <a:off x="838200" y="3275111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Object Recognition Model</a:t>
            </a:r>
          </a:p>
        </p:txBody>
      </p:sp>
    </p:spTree>
    <p:extLst>
      <p:ext uri="{BB962C8B-B14F-4D97-AF65-F5344CB8AC3E}">
        <p14:creationId xmlns:p14="http://schemas.microsoft.com/office/powerpoint/2010/main" val="2500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566</Words>
  <Application>Microsoft Office PowerPoint</Application>
  <PresentationFormat>Widescreen</PresentationFormat>
  <Paragraphs>102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Arial</vt:lpstr>
      <vt:lpstr>Office Theme</vt:lpstr>
      <vt:lpstr>DetactaX AI</vt:lpstr>
      <vt:lpstr>Project team:</vt:lpstr>
      <vt:lpstr>PowerPoint Presentation</vt:lpstr>
      <vt:lpstr>PowerPoint Presentation</vt:lpstr>
      <vt:lpstr>Why MobileNetV2?  Key Architectural Advantages: 1. Inverted Residuals: connects the input and output bottleneck layers (thin layers) via a skip connection. Unlike traditional ResNet blocks. 2. Linear Bottlenecks: Linear Activation instead of using ReLU. 3. Efficiency: Using MobileNet’s signature Depthwise Seperable Convolution which offers reduction in parameter counts.  </vt:lpstr>
      <vt:lpstr>PowerPoint Presentation</vt:lpstr>
      <vt:lpstr>PowerPoint Presentation</vt:lpstr>
      <vt:lpstr>PowerPoint Presentation</vt:lpstr>
      <vt:lpstr>Model Training</vt:lpstr>
      <vt:lpstr>PowerPoint Presentation</vt:lpstr>
      <vt:lpstr>PowerPoint Presentation</vt:lpstr>
      <vt:lpstr>Results &amp; Metrics:  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Basel M. Mostafa Sayed</cp:lastModifiedBy>
  <cp:revision>8</cp:revision>
  <dcterms:created xsi:type="dcterms:W3CDTF">2024-03-14T10:03:54Z</dcterms:created>
  <dcterms:modified xsi:type="dcterms:W3CDTF">2025-11-27T17:44:00Z</dcterms:modified>
</cp:coreProperties>
</file>