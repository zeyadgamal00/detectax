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61" r:id="rId2"/>
    <p:sldId id="268" r:id="rId3"/>
    <p:sldId id="270" r:id="rId4"/>
    <p:sldId id="269" r:id="rId5"/>
    <p:sldId id="271" r:id="rId6"/>
    <p:sldId id="272" r:id="rId7"/>
    <p:sldId id="273" r:id="rId8"/>
    <p:sldId id="274" r:id="rId9"/>
    <p:sldId id="275" r:id="rId10"/>
    <p:sldId id="276" r:id="rId11"/>
    <p:sldId id="279" r:id="rId12"/>
    <p:sldId id="277" r:id="rId13"/>
    <p:sldId id="278" r:id="rId14"/>
    <p:sldId id="280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1" roundtripDataSignature="AMtx7mjOmBtk5DbvnkierGKxpb4ZbKw0W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9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60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>
          <a:extLst>
            <a:ext uri="{FF2B5EF4-FFF2-40B4-BE49-F238E27FC236}">
              <a16:creationId xmlns:a16="http://schemas.microsoft.com/office/drawing/2014/main" id="{C90AA78C-E0FC-644E-EF3B-9BD45FD39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1:notes">
            <a:extLst>
              <a:ext uri="{FF2B5EF4-FFF2-40B4-BE49-F238E27FC236}">
                <a16:creationId xmlns:a16="http://schemas.microsoft.com/office/drawing/2014/main" id="{640D5952-785E-547D-C03D-13B9EBFFB0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11:notes">
            <a:extLst>
              <a:ext uri="{FF2B5EF4-FFF2-40B4-BE49-F238E27FC236}">
                <a16:creationId xmlns:a16="http://schemas.microsoft.com/office/drawing/2014/main" id="{76DBD143-9E0D-7D2D-9071-EFA46BD043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604268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>
          <a:extLst>
            <a:ext uri="{FF2B5EF4-FFF2-40B4-BE49-F238E27FC236}">
              <a16:creationId xmlns:a16="http://schemas.microsoft.com/office/drawing/2014/main" id="{F439BAA0-A529-566D-4EB0-496F1D97F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2:notes">
            <a:extLst>
              <a:ext uri="{FF2B5EF4-FFF2-40B4-BE49-F238E27FC236}">
                <a16:creationId xmlns:a16="http://schemas.microsoft.com/office/drawing/2014/main" id="{0E17C461-37D9-75A0-3B2A-471F905D5C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2:notes">
            <a:extLst>
              <a:ext uri="{FF2B5EF4-FFF2-40B4-BE49-F238E27FC236}">
                <a16:creationId xmlns:a16="http://schemas.microsoft.com/office/drawing/2014/main" id="{25E89218-08F5-C2AE-3E6D-7D315C8BD7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132441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A89A9B41-CB81-6EA7-DB09-64A66372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7:notes">
            <a:extLst>
              <a:ext uri="{FF2B5EF4-FFF2-40B4-BE49-F238E27FC236}">
                <a16:creationId xmlns:a16="http://schemas.microsoft.com/office/drawing/2014/main" id="{41A22A84-288E-0C66-ECDB-1C9E753FAF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8" name="Google Shape;168;p7:notes">
            <a:extLst>
              <a:ext uri="{FF2B5EF4-FFF2-40B4-BE49-F238E27FC236}">
                <a16:creationId xmlns:a16="http://schemas.microsoft.com/office/drawing/2014/main" id="{0DEE5B65-8BAA-C53B-9C61-35C0F6E69F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987196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>
          <a:extLst>
            <a:ext uri="{FF2B5EF4-FFF2-40B4-BE49-F238E27FC236}">
              <a16:creationId xmlns:a16="http://schemas.microsoft.com/office/drawing/2014/main" id="{AE9391C7-D8F0-A562-C31D-CFAB1AA3D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1:notes">
            <a:extLst>
              <a:ext uri="{FF2B5EF4-FFF2-40B4-BE49-F238E27FC236}">
                <a16:creationId xmlns:a16="http://schemas.microsoft.com/office/drawing/2014/main" id="{21CEAD3A-7E0D-A01E-75DC-AF5C572146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2" name="Google Shape;212;p11:notes">
            <a:extLst>
              <a:ext uri="{FF2B5EF4-FFF2-40B4-BE49-F238E27FC236}">
                <a16:creationId xmlns:a16="http://schemas.microsoft.com/office/drawing/2014/main" id="{F34783D0-AA97-5A38-1745-761CC90EEF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640321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>
          <a:extLst>
            <a:ext uri="{FF2B5EF4-FFF2-40B4-BE49-F238E27FC236}">
              <a16:creationId xmlns:a16="http://schemas.microsoft.com/office/drawing/2014/main" id="{6DA82680-8702-E83D-F229-FBC14A914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1:notes">
            <a:extLst>
              <a:ext uri="{FF2B5EF4-FFF2-40B4-BE49-F238E27FC236}">
                <a16:creationId xmlns:a16="http://schemas.microsoft.com/office/drawing/2014/main" id="{C9C59D8D-72BC-12DA-ECD9-1BADC5F1D2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11:notes">
            <a:extLst>
              <a:ext uri="{FF2B5EF4-FFF2-40B4-BE49-F238E27FC236}">
                <a16:creationId xmlns:a16="http://schemas.microsoft.com/office/drawing/2014/main" id="{ECFFEEA7-932F-E387-9928-211458D051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278251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>
          <a:extLst>
            <a:ext uri="{FF2B5EF4-FFF2-40B4-BE49-F238E27FC236}">
              <a16:creationId xmlns:a16="http://schemas.microsoft.com/office/drawing/2014/main" id="{CCB922A4-8707-ABF4-6583-6FBEEF2C6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1:notes">
            <a:extLst>
              <a:ext uri="{FF2B5EF4-FFF2-40B4-BE49-F238E27FC236}">
                <a16:creationId xmlns:a16="http://schemas.microsoft.com/office/drawing/2014/main" id="{74A0BB15-CD29-3734-0C13-203BCE9899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11:notes">
            <a:extLst>
              <a:ext uri="{FF2B5EF4-FFF2-40B4-BE49-F238E27FC236}">
                <a16:creationId xmlns:a16="http://schemas.microsoft.com/office/drawing/2014/main" id="{410EE09E-F50F-8D5B-86F6-E98C9F34C7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582111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487919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>
          <a:extLst>
            <a:ext uri="{FF2B5EF4-FFF2-40B4-BE49-F238E27FC236}">
              <a16:creationId xmlns:a16="http://schemas.microsoft.com/office/drawing/2014/main" id="{6AFD9A5B-7719-9AAC-3FE1-BFE85AA9D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2:notes">
            <a:extLst>
              <a:ext uri="{FF2B5EF4-FFF2-40B4-BE49-F238E27FC236}">
                <a16:creationId xmlns:a16="http://schemas.microsoft.com/office/drawing/2014/main" id="{3450C5C4-3EC8-7B03-4200-27CFE0AE51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1" name="Google Shape;221;p12:notes">
            <a:extLst>
              <a:ext uri="{FF2B5EF4-FFF2-40B4-BE49-F238E27FC236}">
                <a16:creationId xmlns:a16="http://schemas.microsoft.com/office/drawing/2014/main" id="{651ED5D1-DB05-D08A-C5A6-C83D2D6FF0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892918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>
          <a:extLst>
            <a:ext uri="{FF2B5EF4-FFF2-40B4-BE49-F238E27FC236}">
              <a16:creationId xmlns:a16="http://schemas.microsoft.com/office/drawing/2014/main" id="{28E3EEEE-5A37-30B8-1848-847E5AD6D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1:notes">
            <a:extLst>
              <a:ext uri="{FF2B5EF4-FFF2-40B4-BE49-F238E27FC236}">
                <a16:creationId xmlns:a16="http://schemas.microsoft.com/office/drawing/2014/main" id="{BA7881A0-4156-1560-C20E-0A2952A1E1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11:notes">
            <a:extLst>
              <a:ext uri="{FF2B5EF4-FFF2-40B4-BE49-F238E27FC236}">
                <a16:creationId xmlns:a16="http://schemas.microsoft.com/office/drawing/2014/main" id="{231CC71F-6E83-17CE-1464-55A86055C2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1325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771281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>
          <a:extLst>
            <a:ext uri="{FF2B5EF4-FFF2-40B4-BE49-F238E27FC236}">
              <a16:creationId xmlns:a16="http://schemas.microsoft.com/office/drawing/2014/main" id="{6F98489C-E347-26CC-820A-EAEAA45F4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2:notes">
            <a:extLst>
              <a:ext uri="{FF2B5EF4-FFF2-40B4-BE49-F238E27FC236}">
                <a16:creationId xmlns:a16="http://schemas.microsoft.com/office/drawing/2014/main" id="{5AB6AFEF-D6A7-F178-2CF9-8070681AA0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1" name="Google Shape;221;p12:notes">
            <a:extLst>
              <a:ext uri="{FF2B5EF4-FFF2-40B4-BE49-F238E27FC236}">
                <a16:creationId xmlns:a16="http://schemas.microsoft.com/office/drawing/2014/main" id="{0E82D0C7-3BCF-6162-F6AE-6D90116C3C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946335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>
          <a:extLst>
            <a:ext uri="{FF2B5EF4-FFF2-40B4-BE49-F238E27FC236}">
              <a16:creationId xmlns:a16="http://schemas.microsoft.com/office/drawing/2014/main" id="{0B16F685-D790-75B9-29D3-7D512368C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2:notes">
            <a:extLst>
              <a:ext uri="{FF2B5EF4-FFF2-40B4-BE49-F238E27FC236}">
                <a16:creationId xmlns:a16="http://schemas.microsoft.com/office/drawing/2014/main" id="{8C395710-3957-CD11-ADD3-98539A0845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2:notes">
            <a:extLst>
              <a:ext uri="{FF2B5EF4-FFF2-40B4-BE49-F238E27FC236}">
                <a16:creationId xmlns:a16="http://schemas.microsoft.com/office/drawing/2014/main" id="{590DFF75-F70C-11D8-121B-09F16C3C96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24873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>
          <a:extLst>
            <a:ext uri="{FF2B5EF4-FFF2-40B4-BE49-F238E27FC236}">
              <a16:creationId xmlns:a16="http://schemas.microsoft.com/office/drawing/2014/main" id="{39DBE40F-02D2-153E-2DB2-FE8D2E6B2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2:notes">
            <a:extLst>
              <a:ext uri="{FF2B5EF4-FFF2-40B4-BE49-F238E27FC236}">
                <a16:creationId xmlns:a16="http://schemas.microsoft.com/office/drawing/2014/main" id="{0766C05A-B3ED-37C0-DEAE-8B700101F1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2:notes">
            <a:extLst>
              <a:ext uri="{FF2B5EF4-FFF2-40B4-BE49-F238E27FC236}">
                <a16:creationId xmlns:a16="http://schemas.microsoft.com/office/drawing/2014/main" id="{6A21C8B5-6547-6315-0D16-787671DB5A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806536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5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6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7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0" name="Google Shape;40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11512" y="330213"/>
            <a:ext cx="1284576" cy="637759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317" y="0"/>
            <a:ext cx="1489765" cy="1386637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Google Shape;44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63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11512" y="330213"/>
            <a:ext cx="1284576" cy="637759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8"/>
          <p:cNvSpPr/>
          <p:nvPr/>
        </p:nvSpPr>
        <p:spPr>
          <a:xfrm>
            <a:off x="838200" y="6338919"/>
            <a:ext cx="2743200" cy="382556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18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1" name="Google Shape;51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317" y="0"/>
            <a:ext cx="1489765" cy="1386637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8"/>
          <p:cNvSpPr/>
          <p:nvPr/>
        </p:nvSpPr>
        <p:spPr>
          <a:xfrm>
            <a:off x="10933155" y="6344015"/>
            <a:ext cx="466090" cy="431923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</p:sp>
      <p:sp>
        <p:nvSpPr>
          <p:cNvPr id="53" name="Google Shape;5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9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4" name="Google Shape;64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6" name="Google Shape;66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0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3" name="Google Shape;73;p2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4" name="Google Shape;74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1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0" name="Google Shape;80;p2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1" name="Google Shape;81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2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23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4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5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3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13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711512" y="330213"/>
            <a:ext cx="1284576" cy="63775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13"/>
          <p:cNvSpPr/>
          <p:nvPr/>
        </p:nvSpPr>
        <p:spPr>
          <a:xfrm>
            <a:off x="838200" y="6338919"/>
            <a:ext cx="2743200" cy="382556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3" name="Google Shape;13;p13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93317" y="0"/>
            <a:ext cx="1489765" cy="1386637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3"/>
          <p:cNvSpPr/>
          <p:nvPr/>
        </p:nvSpPr>
        <p:spPr>
          <a:xfrm>
            <a:off x="10974189" y="6344015"/>
            <a:ext cx="466090" cy="431923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Google Shape;15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6" name="Google Shape;16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7" name="Google Shape;17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13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lang="en-US" dirty="0" err="1"/>
              <a:t>DetactaX</a:t>
            </a:r>
            <a:r>
              <a:rPr lang="en-US" dirty="0"/>
              <a:t> AI</a:t>
            </a:r>
            <a:endParaRPr dirty="0"/>
          </a:p>
        </p:txBody>
      </p:sp>
      <p:sp>
        <p:nvSpPr>
          <p:cNvPr id="161" name="Google Shape;161;p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DEPI Round 3 Graduation Project</a:t>
            </a:r>
            <a:endParaRPr dirty="0"/>
          </a:p>
        </p:txBody>
      </p:sp>
      <p:sp>
        <p:nvSpPr>
          <p:cNvPr id="162" name="Google Shape;162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5C6A64CA-2458-4BBF-B194-6A98E858D607}" type="datetime1">
              <a:rPr lang="en-US" smtClean="0"/>
              <a:t>11/27/2025</a:t>
            </a:fld>
            <a:endParaRPr dirty="0"/>
          </a:p>
        </p:txBody>
      </p:sp>
      <p:sp>
        <p:nvSpPr>
          <p:cNvPr id="163" name="Google Shape;163;p6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  <a:endParaRPr dirty="0"/>
          </a:p>
        </p:txBody>
      </p:sp>
      <p:sp>
        <p:nvSpPr>
          <p:cNvPr id="164" name="Google Shape;164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02150166-55C0-F834-5D5E-7CD41C8E1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>
          <a:extLst>
            <a:ext uri="{FF2B5EF4-FFF2-40B4-BE49-F238E27FC236}">
              <a16:creationId xmlns:a16="http://schemas.microsoft.com/office/drawing/2014/main" id="{50588D32-2AA0-32CC-92BA-5E6003DD6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1">
            <a:extLst>
              <a:ext uri="{FF2B5EF4-FFF2-40B4-BE49-F238E27FC236}">
                <a16:creationId xmlns:a16="http://schemas.microsoft.com/office/drawing/2014/main" id="{96EDEB8B-2B2A-12B1-A3F8-D13DBD3F19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2103120"/>
            <a:ext cx="10515600" cy="4073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Existing tools are complex or slow and require technical expertise.</a:t>
            </a:r>
          </a:p>
          <a:p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Users need:</a:t>
            </a:r>
          </a:p>
          <a:p>
            <a:pPr marL="457200" lvl="1" indent="0">
              <a:lnSpc>
                <a:spcPct val="120000"/>
              </a:lnSpc>
              <a:buNone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1. Easy-to-use interface</a:t>
            </a:r>
          </a:p>
          <a:p>
            <a:pPr marL="457200" lvl="1" indent="0">
              <a:lnSpc>
                <a:spcPct val="120000"/>
              </a:lnSpc>
              <a:buNone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2. Quick predictions</a:t>
            </a:r>
          </a:p>
          <a:p>
            <a:pPr marL="457200" lvl="1" indent="0">
              <a:lnSpc>
                <a:spcPct val="120000"/>
              </a:lnSpc>
              <a:buNone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3. High accuracy</a:t>
            </a:r>
          </a:p>
          <a:p>
            <a:pPr marL="457200" lvl="1" indent="0">
              <a:lnSpc>
                <a:spcPct val="120000"/>
              </a:lnSpc>
              <a:buNone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4. No technical setup required</a:t>
            </a:r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b="1" dirty="0"/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 dirty="0"/>
              <a:t>-</a:t>
            </a:r>
            <a:r>
              <a:rPr lang="en-US" dirty="0"/>
              <a:t> </a:t>
            </a:r>
            <a:r>
              <a:rPr lang="en-US" b="1" dirty="0"/>
              <a:t>Project Idea: </a:t>
            </a:r>
            <a:r>
              <a:rPr lang="en-US" dirty="0"/>
              <a:t>Making a website with both Image Classification &amp; Object Recognition capabilities for multi-use cases.</a:t>
            </a:r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dirty="0"/>
          </a:p>
          <a:p>
            <a:pPr marL="228600" indent="-50800">
              <a:spcBef>
                <a:spcPts val="0"/>
              </a:spcBef>
              <a:buSzPts val="2800"/>
              <a:buNone/>
            </a:pPr>
            <a:r>
              <a:rPr lang="en-US" b="1" dirty="0"/>
              <a:t>- Goal: </a:t>
            </a:r>
            <a:r>
              <a:rPr lang="en-US" dirty="0"/>
              <a:t>Quickly and accurately classify the main object in an image &amp; recognize multiple objects using top of the line models.</a:t>
            </a:r>
          </a:p>
        </p:txBody>
      </p:sp>
      <p:sp>
        <p:nvSpPr>
          <p:cNvPr id="215" name="Google Shape;215;p11">
            <a:extLst>
              <a:ext uri="{FF2B5EF4-FFF2-40B4-BE49-F238E27FC236}">
                <a16:creationId xmlns:a16="http://schemas.microsoft.com/office/drawing/2014/main" id="{3B373D44-7772-1B0B-95D0-87997B059B7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fld id="{5C6A64CA-2458-4BBF-B194-6A98E858D607}" type="datetime1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216" name="Google Shape;216;p11">
            <a:extLst>
              <a:ext uri="{FF2B5EF4-FFF2-40B4-BE49-F238E27FC236}">
                <a16:creationId xmlns:a16="http://schemas.microsoft.com/office/drawing/2014/main" id="{98AF663C-13F8-F5C8-A097-AAFB511CB8D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7" name="Google Shape;217;p11">
            <a:extLst>
              <a:ext uri="{FF2B5EF4-FFF2-40B4-BE49-F238E27FC236}">
                <a16:creationId xmlns:a16="http://schemas.microsoft.com/office/drawing/2014/main" id="{C469B9CF-F83F-3025-26B7-6C2B6C9774D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6A857058-FD6F-5727-2B74-5CAAF5D25B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123C0FF-9C78-EC7F-5C2A-ECFEC9BFE75E}"/>
              </a:ext>
            </a:extLst>
          </p:cNvPr>
          <p:cNvSpPr txBox="1"/>
          <p:nvPr/>
        </p:nvSpPr>
        <p:spPr>
          <a:xfrm>
            <a:off x="838200" y="1353312"/>
            <a:ext cx="1051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Introduction:</a:t>
            </a:r>
          </a:p>
        </p:txBody>
      </p:sp>
    </p:spTree>
    <p:extLst>
      <p:ext uri="{BB962C8B-B14F-4D97-AF65-F5344CB8AC3E}">
        <p14:creationId xmlns:p14="http://schemas.microsoft.com/office/powerpoint/2010/main" val="730917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50A35DEF-AF9E-BA03-C099-7FE2E1558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2">
            <a:extLst>
              <a:ext uri="{FF2B5EF4-FFF2-40B4-BE49-F238E27FC236}">
                <a16:creationId xmlns:a16="http://schemas.microsoft.com/office/drawing/2014/main" id="{19DBE964-1713-A47A-E979-63DCF19409E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fld id="{5C6A64CA-2458-4BBF-B194-6A98E858D607}" type="datetime1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224" name="Google Shape;224;p12">
            <a:extLst>
              <a:ext uri="{FF2B5EF4-FFF2-40B4-BE49-F238E27FC236}">
                <a16:creationId xmlns:a16="http://schemas.microsoft.com/office/drawing/2014/main" id="{BA44DBEF-79E6-EED5-5D55-0A7276FD78B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5" name="Google Shape;225;p12">
            <a:extLst>
              <a:ext uri="{FF2B5EF4-FFF2-40B4-BE49-F238E27FC236}">
                <a16:creationId xmlns:a16="http://schemas.microsoft.com/office/drawing/2014/main" id="{D86AF962-B65A-22B8-4D3E-71F7FAA3717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497195EC-7608-3C49-768A-C7440C8D2B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E3CA8F2-93AE-9757-8610-92B4736E20A1}"/>
              </a:ext>
            </a:extLst>
          </p:cNvPr>
          <p:cNvSpPr txBox="1"/>
          <p:nvPr/>
        </p:nvSpPr>
        <p:spPr>
          <a:xfrm>
            <a:off x="838200" y="3075057"/>
            <a:ext cx="10515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Classification Model Structure</a:t>
            </a:r>
          </a:p>
        </p:txBody>
      </p:sp>
    </p:spTree>
    <p:extLst>
      <p:ext uri="{BB962C8B-B14F-4D97-AF65-F5344CB8AC3E}">
        <p14:creationId xmlns:p14="http://schemas.microsoft.com/office/powerpoint/2010/main" val="1692999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13409FC8-0329-AF09-D5C8-59842D792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">
            <a:extLst>
              <a:ext uri="{FF2B5EF4-FFF2-40B4-BE49-F238E27FC236}">
                <a16:creationId xmlns:a16="http://schemas.microsoft.com/office/drawing/2014/main" id="{77D2B7A5-FBDE-6E26-D759-B7FA3422F4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76800" y="1285875"/>
            <a:ext cx="6559550" cy="444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sz="3200" b="1" dirty="0"/>
              <a:t>Why MobileNetV2?</a:t>
            </a:r>
            <a:br>
              <a:rPr lang="en-US" sz="3200" b="1" dirty="0"/>
            </a:br>
            <a:br>
              <a:rPr lang="en-US" sz="2400" dirty="0"/>
            </a:br>
            <a:r>
              <a:rPr lang="en-US" sz="2000" b="1" dirty="0"/>
              <a:t>Key Architectural Advantages:</a:t>
            </a:r>
            <a:br>
              <a:rPr lang="en-US" sz="2400" b="1" dirty="0"/>
            </a:br>
            <a:r>
              <a:rPr lang="en-US" sz="2000" b="1" dirty="0"/>
              <a:t>1. Inverted Residuals: </a:t>
            </a:r>
            <a:r>
              <a:rPr lang="en-US" sz="2000" dirty="0"/>
              <a:t>connects the input and output bottleneck layers (thin layers) via a skip connection. Unlike traditional </a:t>
            </a:r>
            <a:r>
              <a:rPr lang="en-US" sz="2000" dirty="0" err="1"/>
              <a:t>ResNet</a:t>
            </a:r>
            <a:r>
              <a:rPr lang="en-US" sz="2000" dirty="0"/>
              <a:t> blocks.</a:t>
            </a:r>
            <a:br>
              <a:rPr lang="en-US" sz="2000" dirty="0"/>
            </a:br>
            <a:r>
              <a:rPr lang="en-US" sz="2000" b="1" dirty="0"/>
              <a:t>2. Linear Bottlenecks: </a:t>
            </a:r>
            <a:r>
              <a:rPr lang="en-US" sz="2000" dirty="0"/>
              <a:t>Linear Activation instead of using </a:t>
            </a:r>
            <a:r>
              <a:rPr lang="en-US" sz="2000" dirty="0" err="1"/>
              <a:t>ReLU</a:t>
            </a:r>
            <a:r>
              <a:rPr lang="en-US" sz="2000" dirty="0"/>
              <a:t>.</a:t>
            </a:r>
            <a:br>
              <a:rPr lang="en-US" sz="2000" dirty="0"/>
            </a:br>
            <a:r>
              <a:rPr lang="en-US" sz="2000" b="1" dirty="0"/>
              <a:t>3. Efficiency: </a:t>
            </a:r>
            <a:r>
              <a:rPr lang="en-US" sz="2000" dirty="0"/>
              <a:t>Using </a:t>
            </a:r>
            <a:r>
              <a:rPr lang="en-US" sz="2000" dirty="0" err="1"/>
              <a:t>MobileNet’s</a:t>
            </a:r>
            <a:r>
              <a:rPr lang="en-US" sz="2000" dirty="0"/>
              <a:t> signature </a:t>
            </a:r>
            <a:r>
              <a:rPr lang="en-US" sz="2000" dirty="0" err="1"/>
              <a:t>Depthwise</a:t>
            </a:r>
            <a:r>
              <a:rPr lang="en-US" sz="2000" dirty="0"/>
              <a:t> </a:t>
            </a:r>
            <a:r>
              <a:rPr lang="en-US" sz="2000" dirty="0" err="1"/>
              <a:t>Seperable</a:t>
            </a:r>
            <a:r>
              <a:rPr lang="en-US" sz="2000" dirty="0"/>
              <a:t> Convolution which offers reduction in parameter counts. </a:t>
            </a:r>
            <a:br>
              <a:rPr lang="en-US" sz="2000" dirty="0"/>
            </a:br>
            <a:endParaRPr sz="2400" dirty="0"/>
          </a:p>
        </p:txBody>
      </p:sp>
      <p:sp>
        <p:nvSpPr>
          <p:cNvPr id="171" name="Google Shape;171;p7">
            <a:extLst>
              <a:ext uri="{FF2B5EF4-FFF2-40B4-BE49-F238E27FC236}">
                <a16:creationId xmlns:a16="http://schemas.microsoft.com/office/drawing/2014/main" id="{72F65924-69F7-66E5-B146-F92D53B1547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10/14/24</a:t>
            </a:r>
            <a:endParaRPr/>
          </a:p>
        </p:txBody>
      </p:sp>
      <p:sp>
        <p:nvSpPr>
          <p:cNvPr id="172" name="Google Shape;172;p7">
            <a:extLst>
              <a:ext uri="{FF2B5EF4-FFF2-40B4-BE49-F238E27FC236}">
                <a16:creationId xmlns:a16="http://schemas.microsoft.com/office/drawing/2014/main" id="{9724ACCA-CBC3-3A52-DEC0-7131F229564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3" name="Google Shape;173;p7">
            <a:extLst>
              <a:ext uri="{FF2B5EF4-FFF2-40B4-BE49-F238E27FC236}">
                <a16:creationId xmlns:a16="http://schemas.microsoft.com/office/drawing/2014/main" id="{8BE5AB8D-F9DB-C825-B4D2-29C8867DB9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pic>
        <p:nvPicPr>
          <p:cNvPr id="174" name="Google Shape;174;p7">
            <a:extLst>
              <a:ext uri="{FF2B5EF4-FFF2-40B4-BE49-F238E27FC236}">
                <a16:creationId xmlns:a16="http://schemas.microsoft.com/office/drawing/2014/main" id="{C8C42BCE-6C21-8DD2-CE37-04C3AB70B95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7763" y="1677910"/>
            <a:ext cx="3913971" cy="3145809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 cmpd="sng">
            <a:solidFill>
              <a:srgbClr val="336EA8"/>
            </a:solidFill>
            <a:prstDash val="solid"/>
            <a:miter lim="800000"/>
            <a:headEnd type="none" w="sm" len="sm"/>
            <a:tailEnd type="none" w="sm" len="sm"/>
          </a:ln>
          <a:effectLst>
            <a:reflection stA="28000" endPos="28000" dist="5000" dir="5400000" sy="-100000" algn="bl" rotWithShape="0"/>
          </a:effectLst>
        </p:spPr>
      </p:pic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E49F8154-68AD-CEF9-9692-52D249D17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  <p:pic>
        <p:nvPicPr>
          <p:cNvPr id="1026" name="Picture 2" descr="What is MobileNetV2? Features, Architecture, Application and More">
            <a:extLst>
              <a:ext uri="{FF2B5EF4-FFF2-40B4-BE49-F238E27FC236}">
                <a16:creationId xmlns:a16="http://schemas.microsoft.com/office/drawing/2014/main" id="{6EDBB77E-DF94-2A39-A371-AE56D4D115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396" y="1677910"/>
            <a:ext cx="3856704" cy="3145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5D968CC-A873-D1FB-3984-B3E5E47B0299}"/>
              </a:ext>
            </a:extLst>
          </p:cNvPr>
          <p:cNvSpPr/>
          <p:nvPr/>
        </p:nvSpPr>
        <p:spPr>
          <a:xfrm>
            <a:off x="838200" y="6347222"/>
            <a:ext cx="2743200" cy="38338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5C6A64CA-2458-4BBF-B194-6A98E858D607}" type="datetime1">
              <a:rPr lang="en-US" smtClean="0"/>
              <a:pPr algn="ctr"/>
              <a:t>11/27/2025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6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>
          <a:extLst>
            <a:ext uri="{FF2B5EF4-FFF2-40B4-BE49-F238E27FC236}">
              <a16:creationId xmlns:a16="http://schemas.microsoft.com/office/drawing/2014/main" id="{324E71AD-DD85-6294-CCB7-C429A840B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">
            <a:extLst>
              <a:ext uri="{FF2B5EF4-FFF2-40B4-BE49-F238E27FC236}">
                <a16:creationId xmlns:a16="http://schemas.microsoft.com/office/drawing/2014/main" id="{A90F6B67-D72F-04C5-4100-BED6FBD49E1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fld id="{5C6A64CA-2458-4BBF-B194-6A98E858D607}" type="datetime1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216" name="Google Shape;216;p11">
            <a:extLst>
              <a:ext uri="{FF2B5EF4-FFF2-40B4-BE49-F238E27FC236}">
                <a16:creationId xmlns:a16="http://schemas.microsoft.com/office/drawing/2014/main" id="{848F96D4-E23B-57AC-AD8E-C4B918CEF42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7" name="Google Shape;217;p11">
            <a:extLst>
              <a:ext uri="{FF2B5EF4-FFF2-40B4-BE49-F238E27FC236}">
                <a16:creationId xmlns:a16="http://schemas.microsoft.com/office/drawing/2014/main" id="{23B6EAD4-3E87-9F55-E3F4-E386213958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28DC65ED-E1B2-285F-2CC7-A55C17F85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EFE9AD-2CBB-6104-D25E-DA9AB24BF408}"/>
              </a:ext>
            </a:extLst>
          </p:cNvPr>
          <p:cNvSpPr txBox="1"/>
          <p:nvPr/>
        </p:nvSpPr>
        <p:spPr>
          <a:xfrm>
            <a:off x="838200" y="1353312"/>
            <a:ext cx="1051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Performance Comparison: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6A3E96-B743-FF65-4630-24D35469EE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531" y="2300849"/>
            <a:ext cx="10262937" cy="3692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6621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>
          <a:extLst>
            <a:ext uri="{FF2B5EF4-FFF2-40B4-BE49-F238E27FC236}">
              <a16:creationId xmlns:a16="http://schemas.microsoft.com/office/drawing/2014/main" id="{2B70DDFC-769E-12E1-9247-1548A0910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1">
            <a:extLst>
              <a:ext uri="{FF2B5EF4-FFF2-40B4-BE49-F238E27FC236}">
                <a16:creationId xmlns:a16="http://schemas.microsoft.com/office/drawing/2014/main" id="{477020AB-DA0C-DCF1-84F4-62FA2C470A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635000" indent="-457200">
              <a:spcBef>
                <a:spcPts val="0"/>
              </a:spcBef>
              <a:buSzPts val="2800"/>
            </a:pPr>
            <a:r>
              <a:rPr lang="en-US" dirty="0"/>
              <a:t>Model Based on MobileNetV2.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US" dirty="0"/>
              <a:t>Retrained using Transfer Learning (Unfroze the last 50 layers).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US" dirty="0"/>
              <a:t>Dataset Used: CIFAR10.</a:t>
            </a:r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dirty="0"/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 dirty="0"/>
              <a:t>Augmentations Applied on the Dataset:</a:t>
            </a:r>
          </a:p>
          <a:p>
            <a:pPr marL="692150" lvl="0" indent="-5143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+mj-lt"/>
              <a:buAutoNum type="arabicPeriod"/>
            </a:pPr>
            <a:r>
              <a:rPr lang="en-US" dirty="0"/>
              <a:t>Resizing to 224x224.</a:t>
            </a:r>
          </a:p>
          <a:p>
            <a:pPr marL="692150" lvl="0" indent="-5143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+mj-lt"/>
              <a:buAutoNum type="arabicPeriod"/>
            </a:pPr>
            <a:r>
              <a:rPr lang="en-US" dirty="0"/>
              <a:t>Random Flip Horizontal and Vertical. </a:t>
            </a:r>
          </a:p>
          <a:p>
            <a:pPr marL="692150" lvl="0" indent="-5143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+mj-lt"/>
              <a:buAutoNum type="arabicPeriod"/>
            </a:pPr>
            <a:r>
              <a:rPr lang="en-US" dirty="0"/>
              <a:t>Random Brightness.</a:t>
            </a:r>
          </a:p>
          <a:p>
            <a:pPr marL="692150" lvl="0" indent="-5143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+mj-lt"/>
              <a:buAutoNum type="arabicPeriod"/>
            </a:pPr>
            <a:r>
              <a:rPr lang="en-US" dirty="0"/>
              <a:t>Random Contrast.</a:t>
            </a:r>
          </a:p>
          <a:p>
            <a:pPr marL="692150" lvl="0" indent="-5143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+mj-lt"/>
              <a:buAutoNum type="arabicPeriod"/>
            </a:pPr>
            <a:r>
              <a:rPr lang="en-US" dirty="0"/>
              <a:t>Random Rotation.</a:t>
            </a:r>
          </a:p>
          <a:p>
            <a:pPr marL="692150" lvl="0" indent="-5143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+mj-lt"/>
              <a:buAutoNum type="arabicPeriod"/>
            </a:pPr>
            <a:r>
              <a:rPr lang="en-US" dirty="0"/>
              <a:t>Random Zoom.</a:t>
            </a:r>
          </a:p>
          <a:p>
            <a:pPr marL="692150" lvl="0" indent="-5143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+mj-lt"/>
              <a:buAutoNum type="arabicPeriod"/>
            </a:pPr>
            <a:r>
              <a:rPr lang="en-US" dirty="0"/>
              <a:t>Rescaling (1/255).</a:t>
            </a:r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dirty="0"/>
          </a:p>
        </p:txBody>
      </p:sp>
      <p:sp>
        <p:nvSpPr>
          <p:cNvPr id="215" name="Google Shape;215;p11">
            <a:extLst>
              <a:ext uri="{FF2B5EF4-FFF2-40B4-BE49-F238E27FC236}">
                <a16:creationId xmlns:a16="http://schemas.microsoft.com/office/drawing/2014/main" id="{6CA27835-5713-70C9-C891-A713916306D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10/14/24</a:t>
            </a:r>
            <a:endParaRPr/>
          </a:p>
        </p:txBody>
      </p:sp>
      <p:sp>
        <p:nvSpPr>
          <p:cNvPr id="216" name="Google Shape;216;p11">
            <a:extLst>
              <a:ext uri="{FF2B5EF4-FFF2-40B4-BE49-F238E27FC236}">
                <a16:creationId xmlns:a16="http://schemas.microsoft.com/office/drawing/2014/main" id="{288D89EF-6ECF-B131-BBFA-9F248403530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7" name="Google Shape;217;p11">
            <a:extLst>
              <a:ext uri="{FF2B5EF4-FFF2-40B4-BE49-F238E27FC236}">
                <a16:creationId xmlns:a16="http://schemas.microsoft.com/office/drawing/2014/main" id="{C9D0BB49-8860-8849-99A7-1D59637714B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FC30FFAB-2795-FDDC-59A8-A91DDAC6A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E48032C-8869-E1B9-839D-EBA4FDD26A75}"/>
              </a:ext>
            </a:extLst>
          </p:cNvPr>
          <p:cNvSpPr txBox="1"/>
          <p:nvPr/>
        </p:nvSpPr>
        <p:spPr>
          <a:xfrm>
            <a:off x="838200" y="1070591"/>
            <a:ext cx="1051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Model Specifications:</a:t>
            </a:r>
          </a:p>
        </p:txBody>
      </p:sp>
    </p:spTree>
    <p:extLst>
      <p:ext uri="{BB962C8B-B14F-4D97-AF65-F5344CB8AC3E}">
        <p14:creationId xmlns:p14="http://schemas.microsoft.com/office/powerpoint/2010/main" val="33301674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>
          <a:extLst>
            <a:ext uri="{FF2B5EF4-FFF2-40B4-BE49-F238E27FC236}">
              <a16:creationId xmlns:a16="http://schemas.microsoft.com/office/drawing/2014/main" id="{B0AD9188-51A8-3F72-BD1B-B2B667C94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1">
            <a:extLst>
              <a:ext uri="{FF2B5EF4-FFF2-40B4-BE49-F238E27FC236}">
                <a16:creationId xmlns:a16="http://schemas.microsoft.com/office/drawing/2014/main" id="{0EE6D2FA-146C-F2ED-9B24-8D1D0E5284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77800" indent="0">
              <a:spcBef>
                <a:spcPts val="0"/>
              </a:spcBef>
              <a:buSzPts val="2800"/>
              <a:buNone/>
            </a:pPr>
            <a:r>
              <a:rPr lang="en-US" b="1" dirty="0"/>
              <a:t>Training Cycle: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US" dirty="0"/>
              <a:t>20 Epochs training cycle with Validation stages in-between.</a:t>
            </a:r>
          </a:p>
          <a:p>
            <a:pPr marL="635000" indent="-457200">
              <a:spcBef>
                <a:spcPts val="0"/>
              </a:spcBef>
              <a:buSzPts val="2800"/>
            </a:pPr>
            <a:endParaRPr lang="en-US" dirty="0"/>
          </a:p>
          <a:p>
            <a:pPr marL="177800" indent="0">
              <a:spcBef>
                <a:spcPts val="0"/>
              </a:spcBef>
              <a:buSzPts val="2800"/>
              <a:buNone/>
            </a:pPr>
            <a:r>
              <a:rPr lang="en-US" b="1" dirty="0"/>
              <a:t>Final Model Results: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US" dirty="0"/>
              <a:t>Accuracy: 0.8451, Loss: 0.4446, Val Accuracy: 0.8404.</a:t>
            </a:r>
          </a:p>
        </p:txBody>
      </p:sp>
      <p:sp>
        <p:nvSpPr>
          <p:cNvPr id="215" name="Google Shape;215;p11">
            <a:extLst>
              <a:ext uri="{FF2B5EF4-FFF2-40B4-BE49-F238E27FC236}">
                <a16:creationId xmlns:a16="http://schemas.microsoft.com/office/drawing/2014/main" id="{A51B2556-9333-F95A-958E-ACD62A6C099D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fld id="{5C6A64CA-2458-4BBF-B194-6A98E858D607}" type="datetime1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216" name="Google Shape;216;p11">
            <a:extLst>
              <a:ext uri="{FF2B5EF4-FFF2-40B4-BE49-F238E27FC236}">
                <a16:creationId xmlns:a16="http://schemas.microsoft.com/office/drawing/2014/main" id="{5731F8D5-9031-AF8D-6D6F-B775183E5DF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7" name="Google Shape;217;p11">
            <a:extLst>
              <a:ext uri="{FF2B5EF4-FFF2-40B4-BE49-F238E27FC236}">
                <a16:creationId xmlns:a16="http://schemas.microsoft.com/office/drawing/2014/main" id="{C9B2C5AA-459B-D488-C703-F057C486579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6446EBCF-F974-AD73-54FC-7081A93EF8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3D8125E-41E0-EDF2-334F-D4712C701041}"/>
              </a:ext>
            </a:extLst>
          </p:cNvPr>
          <p:cNvSpPr txBox="1"/>
          <p:nvPr/>
        </p:nvSpPr>
        <p:spPr>
          <a:xfrm>
            <a:off x="838200" y="1070591"/>
            <a:ext cx="1051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Model Specifications:</a:t>
            </a:r>
          </a:p>
        </p:txBody>
      </p:sp>
    </p:spTree>
    <p:extLst>
      <p:ext uri="{BB962C8B-B14F-4D97-AF65-F5344CB8AC3E}">
        <p14:creationId xmlns:p14="http://schemas.microsoft.com/office/powerpoint/2010/main" val="39605826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DC2B8-71E9-7FE9-E09F-3E68AE8D5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B3527E0-C60C-3CE5-D1EC-063FC516A2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" b="16186"/>
          <a:stretch>
            <a:fillRect/>
          </a:stretch>
        </p:blipFill>
        <p:spPr>
          <a:xfrm>
            <a:off x="6096010" y="10"/>
            <a:ext cx="6095999" cy="6857990"/>
          </a:xfrm>
          <a:custGeom>
            <a:avLst/>
            <a:gdLst/>
            <a:ahLst/>
            <a:cxnLst/>
            <a:rect l="l" t="t" r="r" b="b"/>
            <a:pathLst>
              <a:path w="6095999" h="6858000">
                <a:moveTo>
                  <a:pt x="0" y="0"/>
                </a:moveTo>
                <a:lnTo>
                  <a:pt x="6095999" y="0"/>
                </a:lnTo>
                <a:lnTo>
                  <a:pt x="6095999" y="6858000"/>
                </a:lnTo>
                <a:lnTo>
                  <a:pt x="0" y="6858000"/>
                </a:lnTo>
                <a:lnTo>
                  <a:pt x="0" y="6857999"/>
                </a:lnTo>
                <a:lnTo>
                  <a:pt x="4220980" y="6857999"/>
                </a:lnTo>
                <a:lnTo>
                  <a:pt x="4213164" y="6851010"/>
                </a:lnTo>
                <a:cubicBezTo>
                  <a:pt x="4181666" y="6825777"/>
                  <a:pt x="4066661" y="6744343"/>
                  <a:pt x="4062999" y="6737842"/>
                </a:cubicBezTo>
                <a:cubicBezTo>
                  <a:pt x="4024279" y="6693220"/>
                  <a:pt x="4060463" y="6731339"/>
                  <a:pt x="3994350" y="6686435"/>
                </a:cubicBezTo>
                <a:cubicBezTo>
                  <a:pt x="3947033" y="6670674"/>
                  <a:pt x="3899856" y="6566625"/>
                  <a:pt x="3859426" y="6512643"/>
                </a:cubicBezTo>
                <a:cubicBezTo>
                  <a:pt x="3843619" y="6494605"/>
                  <a:pt x="3819111" y="6476220"/>
                  <a:pt x="3795266" y="6469055"/>
                </a:cubicBezTo>
                <a:cubicBezTo>
                  <a:pt x="3772240" y="6479507"/>
                  <a:pt x="3769424" y="6446115"/>
                  <a:pt x="3752228" y="6440526"/>
                </a:cubicBezTo>
                <a:cubicBezTo>
                  <a:pt x="3742060" y="6447641"/>
                  <a:pt x="3719048" y="6424775"/>
                  <a:pt x="3716355" y="6414007"/>
                </a:cubicBezTo>
                <a:cubicBezTo>
                  <a:pt x="3729286" y="6392352"/>
                  <a:pt x="3629924" y="6387100"/>
                  <a:pt x="3629916" y="6370687"/>
                </a:cubicBezTo>
                <a:cubicBezTo>
                  <a:pt x="3600280" y="6362353"/>
                  <a:pt x="3495200" y="6368444"/>
                  <a:pt x="3479034" y="6339494"/>
                </a:cubicBezTo>
                <a:cubicBezTo>
                  <a:pt x="3420435" y="6317314"/>
                  <a:pt x="3345614" y="6290932"/>
                  <a:pt x="3319627" y="6285893"/>
                </a:cubicBezTo>
                <a:cubicBezTo>
                  <a:pt x="3282294" y="6327705"/>
                  <a:pt x="3185936" y="6185255"/>
                  <a:pt x="3075494" y="6164273"/>
                </a:cubicBezTo>
                <a:cubicBezTo>
                  <a:pt x="3059427" y="6166243"/>
                  <a:pt x="3051440" y="6164859"/>
                  <a:pt x="3050019" y="6153683"/>
                </a:cubicBezTo>
                <a:cubicBezTo>
                  <a:pt x="3016030" y="6146243"/>
                  <a:pt x="2991340" y="6114870"/>
                  <a:pt x="2963636" y="6123708"/>
                </a:cubicBezTo>
                <a:cubicBezTo>
                  <a:pt x="2928425" y="6105855"/>
                  <a:pt x="2947049" y="6092097"/>
                  <a:pt x="2914912" y="6078439"/>
                </a:cubicBezTo>
                <a:lnTo>
                  <a:pt x="2770812" y="6041758"/>
                </a:lnTo>
                <a:cubicBezTo>
                  <a:pt x="2750466" y="6034724"/>
                  <a:pt x="2729222" y="6014032"/>
                  <a:pt x="2708585" y="6007728"/>
                </a:cubicBezTo>
                <a:lnTo>
                  <a:pt x="2687072" y="6003931"/>
                </a:lnTo>
                <a:lnTo>
                  <a:pt x="2674457" y="5991515"/>
                </a:lnTo>
                <a:cubicBezTo>
                  <a:pt x="2668773" y="5988707"/>
                  <a:pt x="2661696" y="5988167"/>
                  <a:pt x="2652298" y="5991525"/>
                </a:cubicBezTo>
                <a:cubicBezTo>
                  <a:pt x="2634345" y="5986939"/>
                  <a:pt x="2583809" y="5969299"/>
                  <a:pt x="2566743" y="5963996"/>
                </a:cubicBezTo>
                <a:lnTo>
                  <a:pt x="2549903" y="5959709"/>
                </a:lnTo>
                <a:lnTo>
                  <a:pt x="2542177" y="5951723"/>
                </a:lnTo>
                <a:cubicBezTo>
                  <a:pt x="2529898" y="5945994"/>
                  <a:pt x="2498812" y="5935402"/>
                  <a:pt x="2476225" y="5925338"/>
                </a:cubicBezTo>
                <a:cubicBezTo>
                  <a:pt x="2457810" y="5911056"/>
                  <a:pt x="2433846" y="5899348"/>
                  <a:pt x="2406656" y="5891344"/>
                </a:cubicBezTo>
                <a:cubicBezTo>
                  <a:pt x="2400991" y="5896275"/>
                  <a:pt x="2393612" y="5885783"/>
                  <a:pt x="2389160" y="5883030"/>
                </a:cubicBezTo>
                <a:cubicBezTo>
                  <a:pt x="2387458" y="5886701"/>
                  <a:pt x="2375233" y="5885881"/>
                  <a:pt x="2372540" y="5881920"/>
                </a:cubicBezTo>
                <a:cubicBezTo>
                  <a:pt x="2293168" y="5849488"/>
                  <a:pt x="2325743" y="5894734"/>
                  <a:pt x="2283811" y="5862541"/>
                </a:cubicBezTo>
                <a:cubicBezTo>
                  <a:pt x="2275730" y="5859531"/>
                  <a:pt x="2268484" y="5859925"/>
                  <a:pt x="2261759" y="5861764"/>
                </a:cubicBezTo>
                <a:lnTo>
                  <a:pt x="2219265" y="5849327"/>
                </a:lnTo>
                <a:cubicBezTo>
                  <a:pt x="2203078" y="5842651"/>
                  <a:pt x="2185672" y="5837119"/>
                  <a:pt x="2167456" y="5832891"/>
                </a:cubicBezTo>
                <a:cubicBezTo>
                  <a:pt x="2161387" y="5839963"/>
                  <a:pt x="2149583" y="5826532"/>
                  <a:pt x="2143288" y="5823218"/>
                </a:cubicBezTo>
                <a:cubicBezTo>
                  <a:pt x="2141966" y="5828274"/>
                  <a:pt x="2126227" y="5828196"/>
                  <a:pt x="2121889" y="5823116"/>
                </a:cubicBezTo>
                <a:cubicBezTo>
                  <a:pt x="2013448" y="5786297"/>
                  <a:pt x="2065303" y="5844161"/>
                  <a:pt x="2004548" y="5804552"/>
                </a:cubicBezTo>
                <a:cubicBezTo>
                  <a:pt x="1993575" y="5801194"/>
                  <a:pt x="1984449" y="5802325"/>
                  <a:pt x="1976317" y="5805346"/>
                </a:cubicBezTo>
                <a:lnTo>
                  <a:pt x="1960968" y="5813703"/>
                </a:lnTo>
                <a:lnTo>
                  <a:pt x="1951886" y="5808313"/>
                </a:lnTo>
                <a:cubicBezTo>
                  <a:pt x="1914205" y="5801767"/>
                  <a:pt x="1900427" y="5810657"/>
                  <a:pt x="1881129" y="5796205"/>
                </a:cubicBezTo>
                <a:cubicBezTo>
                  <a:pt x="1847467" y="5788576"/>
                  <a:pt x="1808824" y="5783942"/>
                  <a:pt x="1778393" y="5776687"/>
                </a:cubicBezTo>
                <a:cubicBezTo>
                  <a:pt x="1764338" y="5756704"/>
                  <a:pt x="1721542" y="5761928"/>
                  <a:pt x="1698544" y="5752677"/>
                </a:cubicBezTo>
                <a:cubicBezTo>
                  <a:pt x="1688689" y="5744367"/>
                  <a:pt x="1680710" y="5741898"/>
                  <a:pt x="1667763" y="5746936"/>
                </a:cubicBezTo>
                <a:cubicBezTo>
                  <a:pt x="1622782" y="5706970"/>
                  <a:pt x="1636232" y="5740258"/>
                  <a:pt x="1589890" y="5720079"/>
                </a:cubicBezTo>
                <a:cubicBezTo>
                  <a:pt x="1550522" y="5700408"/>
                  <a:pt x="1504390" y="5684235"/>
                  <a:pt x="1470745" y="5647268"/>
                </a:cubicBezTo>
                <a:cubicBezTo>
                  <a:pt x="1465307" y="5637473"/>
                  <a:pt x="1447590" y="5631171"/>
                  <a:pt x="1431171" y="5633192"/>
                </a:cubicBezTo>
                <a:cubicBezTo>
                  <a:pt x="1428344" y="5633540"/>
                  <a:pt x="1425665" y="5634127"/>
                  <a:pt x="1423215" y="5634934"/>
                </a:cubicBezTo>
                <a:cubicBezTo>
                  <a:pt x="1404063" y="5609561"/>
                  <a:pt x="1384477" y="5616951"/>
                  <a:pt x="1377158" y="5600720"/>
                </a:cubicBezTo>
                <a:cubicBezTo>
                  <a:pt x="1337416" y="5587406"/>
                  <a:pt x="1299119" y="5594952"/>
                  <a:pt x="1292001" y="5580595"/>
                </a:cubicBezTo>
                <a:cubicBezTo>
                  <a:pt x="1270404" y="5577445"/>
                  <a:pt x="1236263" y="5586393"/>
                  <a:pt x="1224877" y="5570207"/>
                </a:cubicBezTo>
                <a:cubicBezTo>
                  <a:pt x="1218892" y="5580643"/>
                  <a:pt x="1203320" y="5557444"/>
                  <a:pt x="1188481" y="5562311"/>
                </a:cubicBezTo>
                <a:cubicBezTo>
                  <a:pt x="1177571" y="5566931"/>
                  <a:pt x="1170302" y="5560971"/>
                  <a:pt x="1160620" y="5558862"/>
                </a:cubicBezTo>
                <a:cubicBezTo>
                  <a:pt x="1146504" y="5561577"/>
                  <a:pt x="1106544" y="5545833"/>
                  <a:pt x="1097113" y="5537725"/>
                </a:cubicBezTo>
                <a:cubicBezTo>
                  <a:pt x="1076260" y="5511528"/>
                  <a:pt x="1012618" y="5517876"/>
                  <a:pt x="994944" y="5497522"/>
                </a:cubicBezTo>
                <a:cubicBezTo>
                  <a:pt x="987638" y="5493756"/>
                  <a:pt x="980141" y="5491480"/>
                  <a:pt x="972567" y="5490138"/>
                </a:cubicBezTo>
                <a:lnTo>
                  <a:pt x="927036" y="5488921"/>
                </a:lnTo>
                <a:lnTo>
                  <a:pt x="905198" y="5488488"/>
                </a:lnTo>
                <a:cubicBezTo>
                  <a:pt x="920127" y="5466532"/>
                  <a:pt x="847550" y="5479119"/>
                  <a:pt x="871473" y="5463326"/>
                </a:cubicBezTo>
                <a:cubicBezTo>
                  <a:pt x="835241" y="5455796"/>
                  <a:pt x="824844" y="5441869"/>
                  <a:pt x="787335" y="5431076"/>
                </a:cubicBezTo>
                <a:lnTo>
                  <a:pt x="646418" y="5398569"/>
                </a:lnTo>
                <a:cubicBezTo>
                  <a:pt x="594533" y="5378172"/>
                  <a:pt x="569175" y="5376706"/>
                  <a:pt x="522316" y="5365133"/>
                </a:cubicBezTo>
                <a:cubicBezTo>
                  <a:pt x="485699" y="5316148"/>
                  <a:pt x="451396" y="5327743"/>
                  <a:pt x="425051" y="5295085"/>
                </a:cubicBezTo>
                <a:cubicBezTo>
                  <a:pt x="373115" y="5280721"/>
                  <a:pt x="376598" y="5265782"/>
                  <a:pt x="318461" y="5265657"/>
                </a:cubicBezTo>
                <a:lnTo>
                  <a:pt x="266536" y="5232252"/>
                </a:lnTo>
                <a:cubicBezTo>
                  <a:pt x="254867" y="5225616"/>
                  <a:pt x="251642" y="5227516"/>
                  <a:pt x="248444" y="5225838"/>
                </a:cubicBezTo>
                <a:lnTo>
                  <a:pt x="247345" y="5222181"/>
                </a:lnTo>
                <a:lnTo>
                  <a:pt x="237345" y="5217023"/>
                </a:lnTo>
                <a:lnTo>
                  <a:pt x="219603" y="5204977"/>
                </a:lnTo>
                <a:lnTo>
                  <a:pt x="214443" y="5204489"/>
                </a:lnTo>
                <a:lnTo>
                  <a:pt x="184816" y="5189073"/>
                </a:lnTo>
                <a:lnTo>
                  <a:pt x="183534" y="5189699"/>
                </a:lnTo>
                <a:cubicBezTo>
                  <a:pt x="179981" y="5190754"/>
                  <a:pt x="176085" y="5190869"/>
                  <a:pt x="171363" y="5189023"/>
                </a:cubicBezTo>
                <a:cubicBezTo>
                  <a:pt x="165797" y="5204157"/>
                  <a:pt x="163531" y="5192594"/>
                  <a:pt x="150096" y="5185813"/>
                </a:cubicBezTo>
                <a:lnTo>
                  <a:pt x="59253" y="5172817"/>
                </a:lnTo>
                <a:lnTo>
                  <a:pt x="52526" y="5170052"/>
                </a:lnTo>
                <a:lnTo>
                  <a:pt x="52188" y="5170183"/>
                </a:lnTo>
                <a:cubicBezTo>
                  <a:pt x="50293" y="5169980"/>
                  <a:pt x="47917" y="5169219"/>
                  <a:pt x="44687" y="5167637"/>
                </a:cubicBezTo>
                <a:lnTo>
                  <a:pt x="40261" y="5165012"/>
                </a:lnTo>
                <a:lnTo>
                  <a:pt x="27209" y="5159648"/>
                </a:lnTo>
                <a:lnTo>
                  <a:pt x="21368" y="5159036"/>
                </a:lnTo>
                <a:lnTo>
                  <a:pt x="0" y="515885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3799B4E-8632-2AF9-63A6-61564C614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18" y="5234320"/>
            <a:ext cx="6931319" cy="75221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Model Training</a:t>
            </a:r>
          </a:p>
        </p:txBody>
      </p:sp>
      <p:pic>
        <p:nvPicPr>
          <p:cNvPr id="8" name="Content Placeholder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E5A0A61-E2D3-1B3D-727D-B947AD0304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328" b="1"/>
          <a:stretch>
            <a:fillRect/>
          </a:stretch>
        </p:blipFill>
        <p:spPr>
          <a:xfrm>
            <a:off x="-5388" y="10"/>
            <a:ext cx="6169518" cy="5158840"/>
          </a:xfrm>
          <a:custGeom>
            <a:avLst/>
            <a:gdLst/>
            <a:ahLst/>
            <a:cxnLst/>
            <a:rect l="l" t="t" r="r" b="b"/>
            <a:pathLst>
              <a:path w="6096000" h="5158850">
                <a:moveTo>
                  <a:pt x="0" y="0"/>
                </a:moveTo>
                <a:lnTo>
                  <a:pt x="6096000" y="0"/>
                </a:lnTo>
                <a:lnTo>
                  <a:pt x="6096000" y="5158850"/>
                </a:lnTo>
                <a:lnTo>
                  <a:pt x="5957305" y="5157644"/>
                </a:lnTo>
                <a:cubicBezTo>
                  <a:pt x="5920540" y="5151975"/>
                  <a:pt x="5887096" y="5153588"/>
                  <a:pt x="5857259" y="5143603"/>
                </a:cubicBezTo>
                <a:cubicBezTo>
                  <a:pt x="5843335" y="5146861"/>
                  <a:pt x="5830921" y="5147051"/>
                  <a:pt x="5821375" y="5137142"/>
                </a:cubicBezTo>
                <a:cubicBezTo>
                  <a:pt x="5786501" y="5134144"/>
                  <a:pt x="5775399" y="5144200"/>
                  <a:pt x="5755916" y="5131695"/>
                </a:cubicBezTo>
                <a:cubicBezTo>
                  <a:pt x="5732132" y="5146996"/>
                  <a:pt x="5732735" y="5139753"/>
                  <a:pt x="5725007" y="5132964"/>
                </a:cubicBezTo>
                <a:lnTo>
                  <a:pt x="5723810" y="5132374"/>
                </a:lnTo>
                <a:lnTo>
                  <a:pt x="5720531" y="5134578"/>
                </a:lnTo>
                <a:lnTo>
                  <a:pt x="5714795" y="5134902"/>
                </a:lnTo>
                <a:lnTo>
                  <a:pt x="5700142" y="5131655"/>
                </a:lnTo>
                <a:lnTo>
                  <a:pt x="5694799" y="5129754"/>
                </a:lnTo>
                <a:cubicBezTo>
                  <a:pt x="5691058" y="5128696"/>
                  <a:pt x="5688491" y="5128320"/>
                  <a:pt x="5686627" y="5128420"/>
                </a:cubicBezTo>
                <a:lnTo>
                  <a:pt x="5686371" y="5128603"/>
                </a:lnTo>
                <a:lnTo>
                  <a:pt x="5678819" y="5126929"/>
                </a:lnTo>
                <a:cubicBezTo>
                  <a:pt x="5666199" y="5123608"/>
                  <a:pt x="5654035" y="5119908"/>
                  <a:pt x="5642547" y="5116000"/>
                </a:cubicBezTo>
                <a:cubicBezTo>
                  <a:pt x="5629445" y="5126457"/>
                  <a:pt x="5588783" y="5104807"/>
                  <a:pt x="5587979" y="5128480"/>
                </a:cubicBezTo>
                <a:cubicBezTo>
                  <a:pt x="5572317" y="5123886"/>
                  <a:pt x="5564904" y="5112774"/>
                  <a:pt x="5566635" y="5128675"/>
                </a:cubicBezTo>
                <a:cubicBezTo>
                  <a:pt x="5561375" y="5127594"/>
                  <a:pt x="5557787" y="5128327"/>
                  <a:pt x="5554953" y="5129937"/>
                </a:cubicBezTo>
                <a:lnTo>
                  <a:pt x="5554039" y="5130763"/>
                </a:lnTo>
                <a:lnTo>
                  <a:pt x="5514254" y="5120517"/>
                </a:lnTo>
                <a:lnTo>
                  <a:pt x="5492156" y="5111382"/>
                </a:lnTo>
                <a:lnTo>
                  <a:pt x="5480446" y="5107855"/>
                </a:lnTo>
                <a:lnTo>
                  <a:pt x="5477744" y="5104402"/>
                </a:lnTo>
                <a:cubicBezTo>
                  <a:pt x="5474490" y="5102038"/>
                  <a:pt x="5469391" y="5100405"/>
                  <a:pt x="5460150" y="5100442"/>
                </a:cubicBezTo>
                <a:lnTo>
                  <a:pt x="5457901" y="5100914"/>
                </a:lnTo>
                <a:lnTo>
                  <a:pt x="5444243" y="5094201"/>
                </a:lnTo>
                <a:cubicBezTo>
                  <a:pt x="5439994" y="5091441"/>
                  <a:pt x="5436419" y="5088231"/>
                  <a:pt x="5433825" y="5084410"/>
                </a:cubicBezTo>
                <a:cubicBezTo>
                  <a:pt x="5379443" y="5093528"/>
                  <a:pt x="5336110" y="5069767"/>
                  <a:pt x="5280996" y="5063773"/>
                </a:cubicBezTo>
                <a:cubicBezTo>
                  <a:pt x="5250806" y="5055129"/>
                  <a:pt x="5168599" y="5059471"/>
                  <a:pt x="5161582" y="5030966"/>
                </a:cubicBezTo>
                <a:cubicBezTo>
                  <a:pt x="5121870" y="5022662"/>
                  <a:pt x="5095637" y="5020496"/>
                  <a:pt x="5042717" y="5013952"/>
                </a:cubicBezTo>
                <a:cubicBezTo>
                  <a:pt x="4991136" y="4983679"/>
                  <a:pt x="4902283" y="4990567"/>
                  <a:pt x="4840514" y="4970468"/>
                </a:cubicBezTo>
                <a:cubicBezTo>
                  <a:pt x="4799904" y="4987615"/>
                  <a:pt x="4824087" y="4969531"/>
                  <a:pt x="4786778" y="4967817"/>
                </a:cubicBezTo>
                <a:cubicBezTo>
                  <a:pt x="4801901" y="4948343"/>
                  <a:pt x="4739845" y="4972374"/>
                  <a:pt x="4743741" y="4948216"/>
                </a:cubicBezTo>
                <a:cubicBezTo>
                  <a:pt x="4736829" y="4948670"/>
                  <a:pt x="4730010" y="4949869"/>
                  <a:pt x="4723136" y="4951257"/>
                </a:cubicBezTo>
                <a:lnTo>
                  <a:pt x="4719535" y="4951970"/>
                </a:lnTo>
                <a:lnTo>
                  <a:pt x="4706143" y="4950704"/>
                </a:lnTo>
                <a:lnTo>
                  <a:pt x="4701098" y="4955500"/>
                </a:lnTo>
                <a:lnTo>
                  <a:pt x="4680034" y="4957289"/>
                </a:lnTo>
                <a:cubicBezTo>
                  <a:pt x="4672339" y="4957161"/>
                  <a:pt x="4664292" y="4956094"/>
                  <a:pt x="4655741" y="4953520"/>
                </a:cubicBezTo>
                <a:cubicBezTo>
                  <a:pt x="4636359" y="4940479"/>
                  <a:pt x="4599701" y="4946454"/>
                  <a:pt x="4569298" y="4940691"/>
                </a:cubicBezTo>
                <a:lnTo>
                  <a:pt x="4555978" y="4935439"/>
                </a:lnTo>
                <a:lnTo>
                  <a:pt x="4508950" y="4932725"/>
                </a:lnTo>
                <a:cubicBezTo>
                  <a:pt x="4495669" y="4931511"/>
                  <a:pt x="4482007" y="4929765"/>
                  <a:pt x="4467838" y="4927057"/>
                </a:cubicBezTo>
                <a:lnTo>
                  <a:pt x="4441949" y="4920349"/>
                </a:lnTo>
                <a:lnTo>
                  <a:pt x="4394719" y="4912853"/>
                </a:lnTo>
                <a:lnTo>
                  <a:pt x="4356810" y="4916186"/>
                </a:lnTo>
                <a:lnTo>
                  <a:pt x="4222145" y="4920166"/>
                </a:lnTo>
                <a:cubicBezTo>
                  <a:pt x="4202488" y="4924963"/>
                  <a:pt x="4184742" y="4944595"/>
                  <a:pt x="4160481" y="4934555"/>
                </a:cubicBezTo>
                <a:cubicBezTo>
                  <a:pt x="4165854" y="4945670"/>
                  <a:pt x="4131661" y="4931019"/>
                  <a:pt x="4124879" y="4940397"/>
                </a:cubicBezTo>
                <a:cubicBezTo>
                  <a:pt x="4120895" y="4948198"/>
                  <a:pt x="4109593" y="4945570"/>
                  <a:pt x="4100114" y="4947117"/>
                </a:cubicBezTo>
                <a:cubicBezTo>
                  <a:pt x="4091835" y="4954382"/>
                  <a:pt x="4045978" y="4954676"/>
                  <a:pt x="4030957" y="4950944"/>
                </a:cubicBezTo>
                <a:cubicBezTo>
                  <a:pt x="3989825" y="4935537"/>
                  <a:pt x="3946860" y="4963196"/>
                  <a:pt x="3913764" y="4951738"/>
                </a:cubicBezTo>
                <a:cubicBezTo>
                  <a:pt x="3904534" y="4951024"/>
                  <a:pt x="3896577" y="4951663"/>
                  <a:pt x="3889457" y="4953140"/>
                </a:cubicBezTo>
                <a:lnTo>
                  <a:pt x="3871115" y="4959252"/>
                </a:lnTo>
                <a:lnTo>
                  <a:pt x="3869086" y="4964946"/>
                </a:lnTo>
                <a:lnTo>
                  <a:pt x="3856124" y="4966504"/>
                </a:lnTo>
                <a:lnTo>
                  <a:pt x="3835967" y="4975175"/>
                </a:lnTo>
                <a:cubicBezTo>
                  <a:pt x="3826465" y="4950975"/>
                  <a:pt x="3782586" y="4987146"/>
                  <a:pt x="3785910" y="4965148"/>
                </a:cubicBezTo>
                <a:cubicBezTo>
                  <a:pt x="3750785" y="4971249"/>
                  <a:pt x="3699033" y="4952693"/>
                  <a:pt x="3671085" y="4977741"/>
                </a:cubicBezTo>
                <a:cubicBezTo>
                  <a:pt x="3621255" y="4982620"/>
                  <a:pt x="3562637" y="4994206"/>
                  <a:pt x="3486928" y="4994420"/>
                </a:cubicBezTo>
                <a:cubicBezTo>
                  <a:pt x="3446030" y="4994640"/>
                  <a:pt x="3343460" y="4976299"/>
                  <a:pt x="3280956" y="4975036"/>
                </a:cubicBezTo>
                <a:cubicBezTo>
                  <a:pt x="3227193" y="4980695"/>
                  <a:pt x="3256481" y="4973778"/>
                  <a:pt x="3211563" y="4993919"/>
                </a:cubicBezTo>
                <a:cubicBezTo>
                  <a:pt x="3207119" y="4990757"/>
                  <a:pt x="3170070" y="4988394"/>
                  <a:pt x="3164681" y="4986606"/>
                </a:cubicBezTo>
                <a:lnTo>
                  <a:pt x="3127171" y="4979411"/>
                </a:lnTo>
                <a:lnTo>
                  <a:pt x="3096889" y="4976795"/>
                </a:lnTo>
                <a:cubicBezTo>
                  <a:pt x="3088441" y="4978753"/>
                  <a:pt x="3082883" y="4978233"/>
                  <a:pt x="3078620" y="4976620"/>
                </a:cubicBezTo>
                <a:lnTo>
                  <a:pt x="3074275" y="4973840"/>
                </a:lnTo>
                <a:lnTo>
                  <a:pt x="3036436" y="4968613"/>
                </a:lnTo>
                <a:lnTo>
                  <a:pt x="3031995" y="4969990"/>
                </a:lnTo>
                <a:lnTo>
                  <a:pt x="2994028" y="4967956"/>
                </a:lnTo>
                <a:cubicBezTo>
                  <a:pt x="2992299" y="4970105"/>
                  <a:pt x="2989407" y="4971561"/>
                  <a:pt x="2984001" y="4971609"/>
                </a:cubicBezTo>
                <a:cubicBezTo>
                  <a:pt x="2994191" y="4986644"/>
                  <a:pt x="2981386" y="4977427"/>
                  <a:pt x="2964542" y="4976237"/>
                </a:cubicBezTo>
                <a:cubicBezTo>
                  <a:pt x="2976613" y="4999323"/>
                  <a:pt x="2927627" y="4986817"/>
                  <a:pt x="2921274" y="4999668"/>
                </a:cubicBezTo>
                <a:cubicBezTo>
                  <a:pt x="2908629" y="4998274"/>
                  <a:pt x="2895476" y="4997220"/>
                  <a:pt x="2882111" y="4996632"/>
                </a:cubicBezTo>
                <a:lnTo>
                  <a:pt x="2874282" y="4996582"/>
                </a:lnTo>
                <a:cubicBezTo>
                  <a:pt x="2874237" y="4996658"/>
                  <a:pt x="2874193" y="4996735"/>
                  <a:pt x="2874147" y="4996812"/>
                </a:cubicBezTo>
                <a:cubicBezTo>
                  <a:pt x="2872492" y="4997296"/>
                  <a:pt x="2869935" y="4997466"/>
                  <a:pt x="2865932" y="4997221"/>
                </a:cubicBezTo>
                <a:lnTo>
                  <a:pt x="2860008" y="4996489"/>
                </a:lnTo>
                <a:lnTo>
                  <a:pt x="2844819" y="4996392"/>
                </a:lnTo>
                <a:lnTo>
                  <a:pt x="2839735" y="4997900"/>
                </a:lnTo>
                <a:lnTo>
                  <a:pt x="2837922" y="5000718"/>
                </a:lnTo>
                <a:lnTo>
                  <a:pt x="2836507" y="5000394"/>
                </a:lnTo>
                <a:cubicBezTo>
                  <a:pt x="2825749" y="4995427"/>
                  <a:pt x="2822382" y="4988291"/>
                  <a:pt x="2808859" y="5008050"/>
                </a:cubicBezTo>
                <a:cubicBezTo>
                  <a:pt x="2784233" y="4999995"/>
                  <a:pt x="2779499" y="5012041"/>
                  <a:pt x="2745907" y="5016391"/>
                </a:cubicBezTo>
                <a:cubicBezTo>
                  <a:pt x="2731796" y="5008784"/>
                  <a:pt x="2720518" y="5011549"/>
                  <a:pt x="2709519" y="5017601"/>
                </a:cubicBezTo>
                <a:cubicBezTo>
                  <a:pt x="2676766" y="5014138"/>
                  <a:pt x="2646981" y="5022656"/>
                  <a:pt x="2610212" y="5024813"/>
                </a:cubicBezTo>
                <a:cubicBezTo>
                  <a:pt x="2570359" y="5014992"/>
                  <a:pt x="2550109" y="5032793"/>
                  <a:pt x="2510814" y="5035020"/>
                </a:cubicBezTo>
                <a:cubicBezTo>
                  <a:pt x="2476639" y="5017991"/>
                  <a:pt x="2482834" y="5049980"/>
                  <a:pt x="2462736" y="5056754"/>
                </a:cubicBezTo>
                <a:lnTo>
                  <a:pt x="2457050" y="5057379"/>
                </a:lnTo>
                <a:lnTo>
                  <a:pt x="2442184" y="5054901"/>
                </a:lnTo>
                <a:lnTo>
                  <a:pt x="2436703" y="5053277"/>
                </a:lnTo>
                <a:cubicBezTo>
                  <a:pt x="2432888" y="5052418"/>
                  <a:pt x="2430299" y="5052175"/>
                  <a:pt x="2428451" y="5052373"/>
                </a:cubicBezTo>
                <a:lnTo>
                  <a:pt x="2420551" y="5051292"/>
                </a:lnTo>
                <a:cubicBezTo>
                  <a:pt x="2407700" y="5048633"/>
                  <a:pt x="2395274" y="5045570"/>
                  <a:pt x="2383501" y="5042264"/>
                </a:cubicBezTo>
                <a:cubicBezTo>
                  <a:pt x="2362992" y="5043848"/>
                  <a:pt x="2317884" y="5059023"/>
                  <a:pt x="2297493" y="5060796"/>
                </a:cubicBezTo>
                <a:lnTo>
                  <a:pt x="2261156" y="5052905"/>
                </a:lnTo>
                <a:lnTo>
                  <a:pt x="2200581" y="5036274"/>
                </a:lnTo>
                <a:lnTo>
                  <a:pt x="2198380" y="5036861"/>
                </a:lnTo>
                <a:lnTo>
                  <a:pt x="2116066" y="5030866"/>
                </a:lnTo>
                <a:cubicBezTo>
                  <a:pt x="2111600" y="5028328"/>
                  <a:pt x="2059664" y="5017338"/>
                  <a:pt x="2056754" y="5013653"/>
                </a:cubicBezTo>
                <a:cubicBezTo>
                  <a:pt x="2003393" y="5025622"/>
                  <a:pt x="1998298" y="5020073"/>
                  <a:pt x="1942916" y="5016969"/>
                </a:cubicBezTo>
                <a:cubicBezTo>
                  <a:pt x="1882138" y="5005950"/>
                  <a:pt x="1836966" y="4987831"/>
                  <a:pt x="1796717" y="4981610"/>
                </a:cubicBezTo>
                <a:cubicBezTo>
                  <a:pt x="1724075" y="4970499"/>
                  <a:pt x="1636218" y="4947449"/>
                  <a:pt x="1583222" y="4942334"/>
                </a:cubicBezTo>
                <a:cubicBezTo>
                  <a:pt x="1544265" y="4961611"/>
                  <a:pt x="1556109" y="4938719"/>
                  <a:pt x="1518821" y="4938963"/>
                </a:cubicBezTo>
                <a:cubicBezTo>
                  <a:pt x="1497291" y="4936197"/>
                  <a:pt x="1483221" y="4927794"/>
                  <a:pt x="1471837" y="4925740"/>
                </a:cubicBezTo>
                <a:lnTo>
                  <a:pt x="1450515" y="4926642"/>
                </a:lnTo>
                <a:lnTo>
                  <a:pt x="1437078" y="4926078"/>
                </a:lnTo>
                <a:lnTo>
                  <a:pt x="1432462" y="4931139"/>
                </a:lnTo>
                <a:lnTo>
                  <a:pt x="1411645" y="4934032"/>
                </a:lnTo>
                <a:cubicBezTo>
                  <a:pt x="1384856" y="4931153"/>
                  <a:pt x="1306656" y="4918434"/>
                  <a:pt x="1271729" y="4913863"/>
                </a:cubicBezTo>
                <a:cubicBezTo>
                  <a:pt x="1258697" y="4907976"/>
                  <a:pt x="1213546" y="4901042"/>
                  <a:pt x="1202076" y="4906608"/>
                </a:cubicBezTo>
                <a:cubicBezTo>
                  <a:pt x="1192059" y="4906580"/>
                  <a:pt x="1182171" y="4902320"/>
                  <a:pt x="1174670" y="4909064"/>
                </a:cubicBezTo>
                <a:cubicBezTo>
                  <a:pt x="1163701" y="4916862"/>
                  <a:pt x="1136874" y="4897641"/>
                  <a:pt x="1137035" y="4908989"/>
                </a:cubicBezTo>
                <a:cubicBezTo>
                  <a:pt x="1117838" y="4895687"/>
                  <a:pt x="1091386" y="4911450"/>
                  <a:pt x="1069882" y="4912892"/>
                </a:cubicBezTo>
                <a:cubicBezTo>
                  <a:pt x="1055589" y="4900472"/>
                  <a:pt x="1024570" y="4915744"/>
                  <a:pt x="980935" y="4911119"/>
                </a:cubicBezTo>
                <a:cubicBezTo>
                  <a:pt x="947614" y="4906556"/>
                  <a:pt x="913224" y="4897403"/>
                  <a:pt x="869960" y="4885518"/>
                </a:cubicBezTo>
                <a:cubicBezTo>
                  <a:pt x="819114" y="4856727"/>
                  <a:pt x="768074" y="4850663"/>
                  <a:pt x="721345" y="4839806"/>
                </a:cubicBezTo>
                <a:cubicBezTo>
                  <a:pt x="667944" y="4829906"/>
                  <a:pt x="698286" y="4859338"/>
                  <a:pt x="635428" y="4830000"/>
                </a:cubicBezTo>
                <a:cubicBezTo>
                  <a:pt x="626286" y="4837571"/>
                  <a:pt x="617638" y="4836842"/>
                  <a:pt x="604106" y="4830842"/>
                </a:cubicBezTo>
                <a:cubicBezTo>
                  <a:pt x="583276" y="4833091"/>
                  <a:pt x="539859" y="4845979"/>
                  <a:pt x="510451" y="4843485"/>
                </a:cubicBezTo>
                <a:cubicBezTo>
                  <a:pt x="489781" y="4840800"/>
                  <a:pt x="443867" y="4818678"/>
                  <a:pt x="427656" y="4815877"/>
                </a:cubicBezTo>
                <a:cubicBezTo>
                  <a:pt x="424088" y="4817297"/>
                  <a:pt x="419580" y="4820561"/>
                  <a:pt x="413184" y="4826676"/>
                </a:cubicBezTo>
                <a:cubicBezTo>
                  <a:pt x="387673" y="4816699"/>
                  <a:pt x="379855" y="4828170"/>
                  <a:pt x="341772" y="4829671"/>
                </a:cubicBezTo>
                <a:cubicBezTo>
                  <a:pt x="327795" y="4821005"/>
                  <a:pt x="314729" y="4822794"/>
                  <a:pt x="301266" y="4827842"/>
                </a:cubicBezTo>
                <a:cubicBezTo>
                  <a:pt x="265781" y="4821714"/>
                  <a:pt x="231017" y="4827635"/>
                  <a:pt x="189886" y="4826710"/>
                </a:cubicBezTo>
                <a:cubicBezTo>
                  <a:pt x="147910" y="4813727"/>
                  <a:pt x="121702" y="4829584"/>
                  <a:pt x="77762" y="4828518"/>
                </a:cubicBezTo>
                <a:cubicBezTo>
                  <a:pt x="38733" y="4806108"/>
                  <a:pt x="44308" y="4851138"/>
                  <a:pt x="8164" y="4846203"/>
                </a:cubicBezTo>
                <a:lnTo>
                  <a:pt x="0" y="4843648"/>
                </a:lnTo>
                <a:lnTo>
                  <a:pt x="0" y="4080681"/>
                </a:lnTo>
                <a:close/>
              </a:path>
            </a:pathLst>
          </a:cu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609E688-1B8C-DEC1-3E6C-8C48775A1459}"/>
              </a:ext>
            </a:extLst>
          </p:cNvPr>
          <p:cNvSpPr txBox="1"/>
          <p:nvPr/>
        </p:nvSpPr>
        <p:spPr>
          <a:xfrm>
            <a:off x="832104" y="6345936"/>
            <a:ext cx="27614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5C6A64CA-2458-4BBF-B194-6A98E858D607}" type="datetime1">
              <a:rPr lang="en-US" sz="1600">
                <a:solidFill>
                  <a:schemeClr val="bg1"/>
                </a:solidFill>
              </a:rPr>
              <a:pPr algn="ctr"/>
              <a:t>11/27/2025</a:t>
            </a:fld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56074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787A6A46-5DC0-8767-8438-C8D3644CC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2">
            <a:extLst>
              <a:ext uri="{FF2B5EF4-FFF2-40B4-BE49-F238E27FC236}">
                <a16:creationId xmlns:a16="http://schemas.microsoft.com/office/drawing/2014/main" id="{3B32F424-EB5E-C94C-E85B-691A924AB880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fld id="{5C6A64CA-2458-4BBF-B194-6A98E858D607}" type="datetime1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224" name="Google Shape;224;p12">
            <a:extLst>
              <a:ext uri="{FF2B5EF4-FFF2-40B4-BE49-F238E27FC236}">
                <a16:creationId xmlns:a16="http://schemas.microsoft.com/office/drawing/2014/main" id="{C27F4A1F-EBEB-14C0-9024-C65867B7CB7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5" name="Google Shape;225;p12">
            <a:extLst>
              <a:ext uri="{FF2B5EF4-FFF2-40B4-BE49-F238E27FC236}">
                <a16:creationId xmlns:a16="http://schemas.microsoft.com/office/drawing/2014/main" id="{47C4ABE2-07EE-F06C-C9C5-A43BBDDE30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FA33A959-88CF-E665-6C1F-0BCE25E106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6B59374-E0D6-423C-A813-08E86A08C421}"/>
              </a:ext>
            </a:extLst>
          </p:cNvPr>
          <p:cNvSpPr txBox="1"/>
          <p:nvPr/>
        </p:nvSpPr>
        <p:spPr>
          <a:xfrm>
            <a:off x="838200" y="3275111"/>
            <a:ext cx="10515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 err="1"/>
              <a:t>Mlflow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430579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>
          <a:extLst>
            <a:ext uri="{FF2B5EF4-FFF2-40B4-BE49-F238E27FC236}">
              <a16:creationId xmlns:a16="http://schemas.microsoft.com/office/drawing/2014/main" id="{F80A658B-81FF-9D87-E7A9-22FF7D9DC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1">
            <a:extLst>
              <a:ext uri="{FF2B5EF4-FFF2-40B4-BE49-F238E27FC236}">
                <a16:creationId xmlns:a16="http://schemas.microsoft.com/office/drawing/2014/main" id="{5702166C-C682-69BF-1E26-1A45991CC0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2148840"/>
            <a:ext cx="10515600" cy="4028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b="1" dirty="0" err="1"/>
              <a:t>MLflow</a:t>
            </a:r>
            <a:r>
              <a:rPr lang="en-US" dirty="0"/>
              <a:t>: Central experiment tracker.</a:t>
            </a:r>
          </a:p>
          <a:p>
            <a:r>
              <a:rPr lang="en-US" b="1" dirty="0"/>
              <a:t>Local SQLite</a:t>
            </a:r>
            <a:r>
              <a:rPr lang="en-US" dirty="0"/>
              <a:t>: Development tracking database.</a:t>
            </a:r>
          </a:p>
          <a:p>
            <a:r>
              <a:rPr lang="en-US" b="1" dirty="0"/>
              <a:t>Custom Monitors</a:t>
            </a:r>
            <a:r>
              <a:rPr lang="en-US" dirty="0"/>
              <a:t>: Production performance tracking and metrics documenting.</a:t>
            </a:r>
          </a:p>
          <a:p>
            <a:r>
              <a:rPr lang="en-US" b="1" dirty="0"/>
              <a:t>Azure Integration</a:t>
            </a:r>
            <a:r>
              <a:rPr lang="en-US" dirty="0"/>
              <a:t>: Cloud deployment bridge for easy model redeployment to Azure.</a:t>
            </a:r>
          </a:p>
        </p:txBody>
      </p:sp>
      <p:sp>
        <p:nvSpPr>
          <p:cNvPr id="215" name="Google Shape;215;p11">
            <a:extLst>
              <a:ext uri="{FF2B5EF4-FFF2-40B4-BE49-F238E27FC236}">
                <a16:creationId xmlns:a16="http://schemas.microsoft.com/office/drawing/2014/main" id="{99C5B334-2967-3667-FD11-31532C2FCD66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fld id="{5C6A64CA-2458-4BBF-B194-6A98E858D607}" type="datetime1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216" name="Google Shape;216;p11">
            <a:extLst>
              <a:ext uri="{FF2B5EF4-FFF2-40B4-BE49-F238E27FC236}">
                <a16:creationId xmlns:a16="http://schemas.microsoft.com/office/drawing/2014/main" id="{9B248D2B-7C40-E0FE-14A9-AB9C41358CE0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7" name="Google Shape;217;p11">
            <a:extLst>
              <a:ext uri="{FF2B5EF4-FFF2-40B4-BE49-F238E27FC236}">
                <a16:creationId xmlns:a16="http://schemas.microsoft.com/office/drawing/2014/main" id="{A63FB44F-FE42-D4D7-C37E-B1C33C1260D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D711ACFB-DF5F-4D1E-99EF-C431AA2EF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425448C-A300-55A9-FFEC-77AE42EC3489}"/>
              </a:ext>
            </a:extLst>
          </p:cNvPr>
          <p:cNvSpPr txBox="1"/>
          <p:nvPr/>
        </p:nvSpPr>
        <p:spPr>
          <a:xfrm>
            <a:off x="838200" y="1353312"/>
            <a:ext cx="1051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Key </a:t>
            </a:r>
            <a:r>
              <a:rPr lang="en-US" sz="3200" b="1" dirty="0" err="1"/>
              <a:t>Mlflow</a:t>
            </a:r>
            <a:r>
              <a:rPr lang="en-US" sz="3200" b="1" dirty="0"/>
              <a:t> Components:</a:t>
            </a:r>
          </a:p>
        </p:txBody>
      </p:sp>
    </p:spTree>
    <p:extLst>
      <p:ext uri="{BB962C8B-B14F-4D97-AF65-F5344CB8AC3E}">
        <p14:creationId xmlns:p14="http://schemas.microsoft.com/office/powerpoint/2010/main" val="20405385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2AAC1-D007-4EAA-2AE6-B08D6F639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en-US" sz="5400" b="1" dirty="0"/>
              <a:t>Results &amp; Metrics:</a:t>
            </a:r>
            <a:br>
              <a:rPr lang="en-US" sz="5400" b="1" dirty="0"/>
            </a:br>
            <a:br>
              <a:rPr lang="en-US" sz="5400" b="1" dirty="0"/>
            </a:br>
            <a:br>
              <a:rPr lang="en-US" sz="5400" b="1" dirty="0"/>
            </a:br>
            <a:endParaRPr lang="en-US" sz="54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ABD48-37FD-8537-BB94-CBC873E972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7" y="713232"/>
            <a:ext cx="6224335" cy="5431536"/>
          </a:xfrm>
        </p:spPr>
        <p:txBody>
          <a:bodyPr anchor="ctr">
            <a:normAutofit/>
          </a:bodyPr>
          <a:lstStyle/>
          <a:p>
            <a:r>
              <a:rPr lang="en-US" sz="2000" b="1" dirty="0"/>
              <a:t>Classification Model Performance</a:t>
            </a:r>
          </a:p>
          <a:p>
            <a:pPr marL="0" indent="0">
              <a:buNone/>
            </a:pPr>
            <a:r>
              <a:rPr lang="en-US" sz="2000" b="1" dirty="0"/>
              <a:t>1. Final Test Accuracy</a:t>
            </a:r>
            <a:r>
              <a:rPr lang="en-US" sz="2000" dirty="0"/>
              <a:t>: 82%</a:t>
            </a:r>
          </a:p>
          <a:p>
            <a:pPr marL="0" indent="0">
              <a:buNone/>
            </a:pPr>
            <a:r>
              <a:rPr lang="en-US" sz="2000" b="1" dirty="0"/>
              <a:t>2. Training Time</a:t>
            </a:r>
            <a:r>
              <a:rPr lang="en-US" sz="2000" dirty="0"/>
              <a:t>: ~60 minutes (with </a:t>
            </a:r>
            <a:r>
              <a:rPr lang="en-US" sz="2000" dirty="0" err="1"/>
              <a:t>MLflow</a:t>
            </a:r>
            <a:r>
              <a:rPr lang="en-US" sz="2000" dirty="0"/>
              <a:t> tracking)</a:t>
            </a:r>
          </a:p>
          <a:p>
            <a:pPr marL="0" indent="0">
              <a:buNone/>
            </a:pPr>
            <a:r>
              <a:rPr lang="en-US" sz="2000" b="1" dirty="0"/>
              <a:t>3. Model Versions</a:t>
            </a:r>
            <a:r>
              <a:rPr lang="en-US" sz="2000" dirty="0"/>
              <a:t>: 3+ registered versions</a:t>
            </a:r>
          </a:p>
          <a:p>
            <a:pPr marL="0" indent="0">
              <a:buNone/>
            </a:pPr>
            <a:r>
              <a:rPr lang="en-US" sz="2000" b="1" dirty="0"/>
              <a:t>4. Experiments Tracked</a:t>
            </a:r>
            <a:r>
              <a:rPr lang="en-US" sz="2000" dirty="0"/>
              <a:t>: 10+ complete runs</a:t>
            </a:r>
            <a:endParaRPr lang="ar-EG" sz="2000" dirty="0"/>
          </a:p>
          <a:p>
            <a:pPr marL="0" indent="0">
              <a:buNone/>
            </a:pPr>
            <a:endParaRPr lang="en-US" sz="2000" dirty="0"/>
          </a:p>
          <a:p>
            <a:r>
              <a:rPr lang="en-US" sz="2000" b="1" dirty="0"/>
              <a:t>Monitoring System</a:t>
            </a:r>
          </a:p>
          <a:p>
            <a:pPr marL="0" indent="0">
              <a:buNone/>
            </a:pPr>
            <a:r>
              <a:rPr lang="en-US" sz="2000" b="1" dirty="0"/>
              <a:t>1. Prediction Tracking</a:t>
            </a:r>
            <a:r>
              <a:rPr lang="en-US" sz="2000" dirty="0"/>
              <a:t>: Real-time with &lt;100ms overhead</a:t>
            </a:r>
          </a:p>
          <a:p>
            <a:pPr marL="0" indent="0">
              <a:buNone/>
            </a:pPr>
            <a:r>
              <a:rPr lang="en-US" sz="2000" b="1" dirty="0"/>
              <a:t>2. Data Collected</a:t>
            </a:r>
            <a:r>
              <a:rPr lang="en-US" sz="2000" dirty="0"/>
              <a:t>: Parameters, metrics, artifacts, predictions</a:t>
            </a:r>
            <a:endParaRPr lang="ar-EG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A13FF1-2D01-9D0D-7CAD-33FE3E59264C}"/>
              </a:ext>
            </a:extLst>
          </p:cNvPr>
          <p:cNvSpPr txBox="1"/>
          <p:nvPr/>
        </p:nvSpPr>
        <p:spPr>
          <a:xfrm>
            <a:off x="841248" y="6382512"/>
            <a:ext cx="273405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5C6A64CA-2458-4BBF-B194-6A98E858D607}" type="datetime1">
              <a:rPr lang="en-US" sz="1600">
                <a:solidFill>
                  <a:schemeClr val="bg1"/>
                </a:solidFill>
              </a:rPr>
              <a:pPr/>
              <a:t>11/27/2025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C404B0-7653-281A-862F-0BD0FC6134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2781" y="2998435"/>
            <a:ext cx="2457793" cy="2981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6418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E96695BD-AEC5-6B70-A00A-340E3549A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2">
            <a:extLst>
              <a:ext uri="{FF2B5EF4-FFF2-40B4-BE49-F238E27FC236}">
                <a16:creationId xmlns:a16="http://schemas.microsoft.com/office/drawing/2014/main" id="{3C6752FF-2095-B1CC-BBC1-93D00700635B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fld id="{5C6A64CA-2458-4BBF-B194-6A98E858D607}" type="datetime1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224" name="Google Shape;224;p12">
            <a:extLst>
              <a:ext uri="{FF2B5EF4-FFF2-40B4-BE49-F238E27FC236}">
                <a16:creationId xmlns:a16="http://schemas.microsoft.com/office/drawing/2014/main" id="{8AF695DF-B14A-366D-3283-FC8CDD762F8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5" name="Google Shape;225;p12">
            <a:extLst>
              <a:ext uri="{FF2B5EF4-FFF2-40B4-BE49-F238E27FC236}">
                <a16:creationId xmlns:a16="http://schemas.microsoft.com/office/drawing/2014/main" id="{6EB448D3-34ED-CEDB-365D-36EB9074B6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5D638D99-EA9B-7E58-08AA-1DFE6C4279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  <p:pic>
        <p:nvPicPr>
          <p:cNvPr id="3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5724918-33AD-6423-B719-90A2E1D212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280" y="1507075"/>
            <a:ext cx="11305440" cy="3843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2438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0407B530-5509-3D3E-4EEF-53948913A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2">
            <a:extLst>
              <a:ext uri="{FF2B5EF4-FFF2-40B4-BE49-F238E27FC236}">
                <a16:creationId xmlns:a16="http://schemas.microsoft.com/office/drawing/2014/main" id="{781AAAE6-C786-772D-354D-0E37CEC68881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fld id="{5C6A64CA-2458-4BBF-B194-6A98E858D607}" type="datetime1">
              <a:rPr lang="en-US"/>
              <a:pPr lvl="0"/>
              <a:t>11/27/2025</a:t>
            </a:fld>
            <a:endParaRPr dirty="0"/>
          </a:p>
        </p:txBody>
      </p:sp>
      <p:sp>
        <p:nvSpPr>
          <p:cNvPr id="224" name="Google Shape;224;p12">
            <a:extLst>
              <a:ext uri="{FF2B5EF4-FFF2-40B4-BE49-F238E27FC236}">
                <a16:creationId xmlns:a16="http://schemas.microsoft.com/office/drawing/2014/main" id="{826B03E1-F7D4-3608-E2ED-EBDA1818B2B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5" name="Google Shape;225;p12">
            <a:extLst>
              <a:ext uri="{FF2B5EF4-FFF2-40B4-BE49-F238E27FC236}">
                <a16:creationId xmlns:a16="http://schemas.microsoft.com/office/drawing/2014/main" id="{1E6CBE39-8745-A365-128E-C9DCC2DFE30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53C0DA6B-87D9-B8FA-95AA-BE1E171AA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  <p:pic>
        <p:nvPicPr>
          <p:cNvPr id="3" name="Content Placeholder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2FA9E38-1320-9D7C-EFE7-7BD327DFD7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9799" y="1146199"/>
            <a:ext cx="8494140" cy="4565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7884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D8A008CB-B7FC-3189-9C4F-12B1C7155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2">
            <a:extLst>
              <a:ext uri="{FF2B5EF4-FFF2-40B4-BE49-F238E27FC236}">
                <a16:creationId xmlns:a16="http://schemas.microsoft.com/office/drawing/2014/main" id="{713C57EF-EB71-96B8-A2D6-BA088FAC8B91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fld id="{5C6A64CA-2458-4BBF-B194-6A98E858D607}" type="datetime1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224" name="Google Shape;224;p12">
            <a:extLst>
              <a:ext uri="{FF2B5EF4-FFF2-40B4-BE49-F238E27FC236}">
                <a16:creationId xmlns:a16="http://schemas.microsoft.com/office/drawing/2014/main" id="{36A9E278-E024-A141-4310-D0923C77830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5" name="Google Shape;225;p12">
            <a:extLst>
              <a:ext uri="{FF2B5EF4-FFF2-40B4-BE49-F238E27FC236}">
                <a16:creationId xmlns:a16="http://schemas.microsoft.com/office/drawing/2014/main" id="{FCA00979-3B99-B091-B801-F99667FDAE2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7CD16448-3B4C-CC2C-994E-D7BF62BB21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D6FB05D-31C4-0C25-2698-7EDD624FBA06}"/>
              </a:ext>
            </a:extLst>
          </p:cNvPr>
          <p:cNvSpPr txBox="1"/>
          <p:nvPr/>
        </p:nvSpPr>
        <p:spPr>
          <a:xfrm>
            <a:off x="838200" y="3275111"/>
            <a:ext cx="10515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Object Recognition Model</a:t>
            </a:r>
          </a:p>
        </p:txBody>
      </p:sp>
    </p:spTree>
    <p:extLst>
      <p:ext uri="{BB962C8B-B14F-4D97-AF65-F5344CB8AC3E}">
        <p14:creationId xmlns:p14="http://schemas.microsoft.com/office/powerpoint/2010/main" val="25001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</TotalTime>
  <Words>502</Words>
  <Application>Microsoft Office PowerPoint</Application>
  <PresentationFormat>Widescreen</PresentationFormat>
  <Paragraphs>94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Calibri</vt:lpstr>
      <vt:lpstr>Arial</vt:lpstr>
      <vt:lpstr>Office Theme</vt:lpstr>
      <vt:lpstr>DetactaX AI</vt:lpstr>
      <vt:lpstr>PowerPoint Presentation</vt:lpstr>
      <vt:lpstr>PowerPoint Presentation</vt:lpstr>
      <vt:lpstr>Why MobileNetV2?  Key Architectural Advantages: 1. Inverted Residuals: connects the input and output bottleneck layers (thin layers) via a skip connection. Unlike traditional ResNet blocks. 2. Linear Bottlenecks: Linear Activation instead of using ReLU. 3. Efficiency: Using MobileNet’s signature Depthwise Seperable Convolution which offers reduction in parameter counts.  </vt:lpstr>
      <vt:lpstr>PowerPoint Presentation</vt:lpstr>
      <vt:lpstr>PowerPoint Presentation</vt:lpstr>
      <vt:lpstr>PowerPoint Presentation</vt:lpstr>
      <vt:lpstr>Model Training</vt:lpstr>
      <vt:lpstr>PowerPoint Presentation</vt:lpstr>
      <vt:lpstr>PowerPoint Presentation</vt:lpstr>
      <vt:lpstr>Results &amp; Metrics:   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SAMA</dc:creator>
  <cp:lastModifiedBy>Basel M. Mostafa Sayed</cp:lastModifiedBy>
  <cp:revision>6</cp:revision>
  <dcterms:created xsi:type="dcterms:W3CDTF">2024-03-14T10:03:54Z</dcterms:created>
  <dcterms:modified xsi:type="dcterms:W3CDTF">2025-11-27T17:11:50Z</dcterms:modified>
</cp:coreProperties>
</file>